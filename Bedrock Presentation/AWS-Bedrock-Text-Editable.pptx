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95299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1" i="0">
                <a:solidFill>
                  <a:srgbClr val="1A1714"/>
                </a:solidFill>
                <a:latin typeface="Helvetica Neue"/>
              </a:rPr>
              <a:t>INTRODUCTION TO CLOUD &amp; SERVERLESS DEVELOPMENT WITH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0" y="495299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00" b="0" i="0">
                <a:solidFill>
                  <a:srgbClr val="847B6E"/>
                </a:solidFill>
                <a:latin typeface="Helvetica Neue"/>
              </a:rPr>
              <a:t>STUDENT-LED PRESENTATION · 24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905000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B8472A"/>
                </a:solidFill>
                <a:latin typeface="Helvetica Neue"/>
              </a:rPr>
              <a:t>A FIELD REPORT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300" y="2222500"/>
            <a:ext cx="7810499" cy="151968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500" b="1" i="0">
                <a:solidFill>
                  <a:srgbClr val="1A1714"/>
                </a:solidFill>
                <a:latin typeface="Georgia"/>
              </a:rPr>
              <a:t>AWS Bedrock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83000"/>
            <a:ext cx="7746999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" b="0" i="1">
                <a:solidFill>
                  <a:srgbClr val="4A433B"/>
                </a:solidFill>
                <a:latin typeface="Georgia"/>
              </a:rPr>
              <a:t>Managed Generative AI on AWS — and what it looks like
when every LLM call in a production system runs through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207000"/>
            <a:ext cx="5715000" cy="60071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847B6E"/>
                </a:solidFill>
                <a:latin typeface="Helvetica Neue"/>
              </a:rPr>
              <a:t>PRESENTED BY</a:t>
            </a:r>
          </a:p>
          <a:p>
            <a:pPr algn="l"/>
            <a:r>
              <a:rPr sz="1500" b="0" i="0">
                <a:solidFill>
                  <a:srgbClr val="1A1714"/>
                </a:solidFill>
                <a:latin typeface="Georgia"/>
              </a:rPr>
              <a:t>Presenter One  ·  Presenter Two</a:t>
            </a:r>
          </a:p>
          <a:p>
            <a:pPr algn="l"/>
            <a:r>
              <a:rPr sz="900" b="0" i="0">
                <a:solidFill>
                  <a:srgbClr val="847B6E"/>
                </a:solidFill>
                <a:latin typeface="Helvetica Neue"/>
              </a:rPr>
              <a:t>Live demo · real code · real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0000" y="2082800"/>
            <a:ext cx="2349500" cy="24386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READING LIST</a:t>
            </a:r>
          </a:p>
          <a:p>
            <a:pPr algn="l"/>
            <a:r>
              <a:rPr sz="1100" b="1" i="0">
                <a:solidFill>
                  <a:srgbClr val="B8472A"/>
                </a:solidFill>
                <a:latin typeface="Georgia"/>
              </a:rPr>
              <a:t>01</a:t>
            </a:r>
          </a:p>
          <a:p>
            <a:pPr algn="l"/>
            <a:r>
              <a:rPr sz="1100" b="0" i="0">
                <a:solidFill>
                  <a:srgbClr val="1A1714"/>
                </a:solidFill>
                <a:latin typeface="Georgia"/>
              </a:rPr>
              <a:t>What it is &amp; the problem
it actually solves</a:t>
            </a:r>
          </a:p>
          <a:p>
            <a:pPr algn="l"/>
            <a:r>
              <a:rPr sz="1100" b="1" i="0">
                <a:solidFill>
                  <a:srgbClr val="B8472A"/>
                </a:solidFill>
                <a:latin typeface="Georgia"/>
              </a:rPr>
              <a:t>02</a:t>
            </a:r>
          </a:p>
          <a:p>
            <a:pPr algn="l"/>
            <a:r>
              <a:rPr sz="1100" b="0" i="0">
                <a:solidFill>
                  <a:srgbClr val="1A1714"/>
                </a:solidFill>
                <a:latin typeface="Georgia"/>
              </a:rPr>
              <a:t>How it works —
architecture &amp; the API</a:t>
            </a:r>
          </a:p>
          <a:p>
            <a:pPr algn="l"/>
            <a:r>
              <a:rPr sz="1100" b="1" i="0">
                <a:solidFill>
                  <a:srgbClr val="B8472A"/>
                </a:solidFill>
                <a:latin typeface="Georgia"/>
              </a:rPr>
              <a:t>03</a:t>
            </a:r>
          </a:p>
          <a:p>
            <a:pPr algn="l"/>
            <a:r>
              <a:rPr sz="1100" b="0" i="0">
                <a:solidFill>
                  <a:srgbClr val="1A1714"/>
                </a:solidFill>
                <a:latin typeface="Georgia"/>
              </a:rPr>
              <a:t>Alternatives &amp; trade-offs</a:t>
            </a:r>
          </a:p>
          <a:p>
            <a:pPr algn="l"/>
            <a:r>
              <a:rPr sz="1100" b="1" i="0">
                <a:solidFill>
                  <a:srgbClr val="B8472A"/>
                </a:solidFill>
                <a:latin typeface="Georgia"/>
              </a:rPr>
              <a:t>04</a:t>
            </a:r>
          </a:p>
          <a:p>
            <a:pPr algn="l"/>
            <a:r>
              <a:rPr sz="1100" b="0" i="0">
                <a:solidFill>
                  <a:srgbClr val="1A1714"/>
                </a:solidFill>
                <a:latin typeface="Georgia"/>
              </a:rPr>
              <a:t>A real production pipeline</a:t>
            </a:r>
          </a:p>
          <a:p>
            <a:pPr algn="l"/>
            <a:r>
              <a:rPr sz="1100" b="1" i="0">
                <a:solidFill>
                  <a:srgbClr val="B8472A"/>
                </a:solidFill>
                <a:latin typeface="Georgia"/>
              </a:rPr>
              <a:t>05</a:t>
            </a:r>
          </a:p>
          <a:p>
            <a:pPr algn="l"/>
            <a:r>
              <a:rPr sz="1100" b="0" i="0">
                <a:solidFill>
                  <a:srgbClr val="1A1714"/>
                </a:solidFill>
                <a:latin typeface="Georgia"/>
              </a:rPr>
              <a:t>Live demo &amp; lessons earned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477000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0" i="0">
                <a:solidFill>
                  <a:srgbClr val="847B6E"/>
                </a:solidFill>
                <a:latin typeface="Helvetica Neue"/>
              </a:rPr>
              <a:t>VOL. 01  ·  BEDROCK IN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0" y="6477000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 i="0">
                <a:solidFill>
                  <a:srgbClr val="847B6E"/>
                </a:solidFill>
                <a:latin typeface="Helvetica Neue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95299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1" i="0">
                <a:solidFill>
                  <a:srgbClr val="1A1714"/>
                </a:solidFill>
                <a:latin typeface="Helvetica Neue"/>
              </a:rPr>
              <a:t>OPENING  ·  SET THE 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0" y="495299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00" b="0" i="0">
                <a:solidFill>
                  <a:srgbClr val="847B6E"/>
                </a:solidFill>
                <a:latin typeface="Helvetica Neue"/>
              </a:rPr>
              <a:t>FOREWORD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270000"/>
            <a:ext cx="825500" cy="1774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0" b="1" i="0">
                <a:solidFill>
                  <a:srgbClr val="B8472A"/>
                </a:solidFill>
                <a:latin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1000" y="1460500"/>
            <a:ext cx="8255000" cy="1706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200" b="0" i="0">
                <a:solidFill>
                  <a:srgbClr val="1A1714"/>
                </a:solidFill>
                <a:latin typeface="Georgia"/>
              </a:rPr>
              <a:t>Every LLM call in a production system we run
at BigID goes through Bedrock.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1000" y="2730500"/>
            <a:ext cx="698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847B6E"/>
                </a:solidFill>
                <a:latin typeface="Helvetica Neue"/>
              </a:rPr>
              <a:t>— TODAY'S HOOK, AND OUR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19500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 i="0">
                <a:solidFill>
                  <a:srgbClr val="B8472A"/>
                </a:solidFill>
                <a:latin typeface="Helvetica Neue"/>
              </a:rPr>
              <a:t>THE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968750"/>
            <a:ext cx="10668000" cy="28892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700" b="1" i="0">
                <a:solidFill>
                  <a:srgbClr val="B8472A"/>
                </a:solidFill>
                <a:latin typeface="Georgia"/>
              </a:rPr>
              <a:t>I</a:t>
            </a:r>
          </a:p>
          <a:p>
            <a:pPr algn="l"/>
            <a:r>
              <a:rPr sz="700" b="1" i="0">
                <a:solidFill>
                  <a:srgbClr val="847B6E"/>
                </a:solidFill>
                <a:latin typeface="Helvetica Neue"/>
              </a:rPr>
              <a:t>FOUNDATIONS</a:t>
            </a:r>
          </a:p>
          <a:p>
            <a:pPr algn="l"/>
            <a:r>
              <a:rPr sz="1500" b="0" i="0">
                <a:solidFill>
                  <a:srgbClr val="1A1714"/>
                </a:solidFill>
                <a:latin typeface="Georgia"/>
              </a:rPr>
              <a:t>What Bedrock is</a:t>
            </a:r>
          </a:p>
          <a:p>
            <a:pPr algn="l"/>
            <a:r>
              <a:rPr sz="1000" b="0" i="1">
                <a:solidFill>
                  <a:srgbClr val="4A433B"/>
                </a:solidFill>
                <a:latin typeface="Georgia"/>
              </a:rPr>
              <a:t>The managed-API thesis &amp; the problem it removes.</a:t>
            </a:r>
          </a:p>
          <a:p>
            <a:pPr algn="l"/>
            <a:r>
              <a:rPr sz="2700" b="1" i="0">
                <a:solidFill>
                  <a:srgbClr val="B8472A"/>
                </a:solidFill>
                <a:latin typeface="Georgia"/>
              </a:rPr>
              <a:t>II</a:t>
            </a:r>
          </a:p>
          <a:p>
            <a:pPr algn="l"/>
            <a:r>
              <a:rPr sz="700" b="1" i="0">
                <a:solidFill>
                  <a:srgbClr val="847B6E"/>
                </a:solidFill>
                <a:latin typeface="Helvetica Neue"/>
              </a:rPr>
              <a:t>MECHANICS</a:t>
            </a:r>
          </a:p>
          <a:p>
            <a:pPr algn="l"/>
            <a:r>
              <a:rPr sz="1500" b="0" i="0">
                <a:solidFill>
                  <a:srgbClr val="1A1714"/>
                </a:solidFill>
                <a:latin typeface="Georgia"/>
              </a:rPr>
              <a:t>How it works</a:t>
            </a:r>
          </a:p>
          <a:p>
            <a:pPr algn="l"/>
            <a:r>
              <a:rPr sz="1000" b="0" i="1">
                <a:solidFill>
                  <a:srgbClr val="4A433B"/>
                </a:solidFill>
                <a:latin typeface="Georgia"/>
              </a:rPr>
              <a:t>Architecture, Converse, tool-use, caching.</a:t>
            </a:r>
          </a:p>
          <a:p>
            <a:pPr algn="l"/>
            <a:r>
              <a:rPr sz="2700" b="1" i="0">
                <a:solidFill>
                  <a:srgbClr val="B8472A"/>
                </a:solidFill>
                <a:latin typeface="Georgia"/>
              </a:rPr>
              <a:t>III</a:t>
            </a:r>
          </a:p>
          <a:p>
            <a:pPr algn="l"/>
            <a:r>
              <a:rPr sz="700" b="1" i="0">
                <a:solidFill>
                  <a:srgbClr val="847B6E"/>
                </a:solidFill>
                <a:latin typeface="Helvetica Neue"/>
              </a:rPr>
              <a:t>CONTEXT</a:t>
            </a:r>
          </a:p>
          <a:p>
            <a:pPr algn="l"/>
            <a:r>
              <a:rPr sz="1500" b="0" i="0">
                <a:solidFill>
                  <a:srgbClr val="1A1714"/>
                </a:solidFill>
                <a:latin typeface="Georgia"/>
              </a:rPr>
              <a:t>Alternatives</a:t>
            </a:r>
          </a:p>
          <a:p>
            <a:pPr algn="l"/>
            <a:r>
              <a:rPr sz="1000" b="0" i="1">
                <a:solidFill>
                  <a:srgbClr val="4A433B"/>
                </a:solidFill>
                <a:latin typeface="Georgia"/>
              </a:rPr>
              <a:t>SageMaker, Q, OpenAI direct — trade-offs.</a:t>
            </a:r>
          </a:p>
          <a:p>
            <a:pPr algn="l"/>
            <a:r>
              <a:rPr sz="2700" b="1" i="0">
                <a:solidFill>
                  <a:srgbClr val="B8472A"/>
                </a:solidFill>
                <a:latin typeface="Georgia"/>
              </a:rPr>
              <a:t>IV</a:t>
            </a:r>
          </a:p>
          <a:p>
            <a:pPr algn="l"/>
            <a:r>
              <a:rPr sz="700" b="1" i="0">
                <a:solidFill>
                  <a:srgbClr val="847B6E"/>
                </a:solidFill>
                <a:latin typeface="Helvetica Neue"/>
              </a:rPr>
              <a:t>FIELD NOTES</a:t>
            </a:r>
          </a:p>
          <a:p>
            <a:pPr algn="l"/>
            <a:r>
              <a:rPr sz="1500" b="0" i="0">
                <a:solidFill>
                  <a:srgbClr val="1A1714"/>
                </a:solidFill>
                <a:latin typeface="Georgia"/>
              </a:rPr>
              <a:t>A real pipeline</a:t>
            </a:r>
          </a:p>
          <a:p>
            <a:pPr algn="l"/>
            <a:r>
              <a:rPr sz="1000" b="0" i="1">
                <a:solidFill>
                  <a:srgbClr val="4A433B"/>
                </a:solidFill>
                <a:latin typeface="Georgia"/>
              </a:rPr>
              <a:t>PII classifier — multi-agent, multi-model.</a:t>
            </a:r>
          </a:p>
          <a:p>
            <a:pPr algn="l"/>
            <a:r>
              <a:rPr sz="2700" b="1" i="0">
                <a:solidFill>
                  <a:srgbClr val="B8472A"/>
                </a:solidFill>
                <a:latin typeface="Georgia"/>
              </a:rPr>
              <a:t>V</a:t>
            </a:r>
          </a:p>
          <a:p>
            <a:pPr algn="l"/>
            <a:r>
              <a:rPr sz="700" b="1" i="0">
                <a:solidFill>
                  <a:srgbClr val="847B6E"/>
                </a:solidFill>
                <a:latin typeface="Helvetica Neue"/>
              </a:rPr>
              <a:t>HANDS-ON</a:t>
            </a:r>
          </a:p>
          <a:p>
            <a:pPr algn="l"/>
            <a:r>
              <a:rPr sz="1500" b="0" i="0">
                <a:solidFill>
                  <a:srgbClr val="1A1714"/>
                </a:solidFill>
                <a:latin typeface="Georgia"/>
              </a:rPr>
              <a:t>Live demo</a:t>
            </a:r>
          </a:p>
          <a:p>
            <a:pPr algn="l"/>
            <a:r>
              <a:rPr sz="1000" b="0" i="1">
                <a:solidFill>
                  <a:srgbClr val="4A433B"/>
                </a:solidFill>
                <a:latin typeface="Georgia"/>
              </a:rPr>
              <a:t>Real input, real structured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" y="5822950"/>
            <a:ext cx="10287000" cy="7538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4EFE6"/>
                </a:solidFill>
                <a:latin typeface="Helvetica Neue"/>
              </a:rPr>
              <a:t>Note  · 
 The second half is hands-on — we'll run real Bedrock calls on a real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477000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0" i="0">
                <a:solidFill>
                  <a:srgbClr val="847B6E"/>
                </a:solidFill>
                <a:latin typeface="Helvetica Neue"/>
              </a:rPr>
              <a:t>AWS BEDROCK  ·  A FIELD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0" y="6477000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 i="0">
                <a:solidFill>
                  <a:srgbClr val="847B6E"/>
                </a:solidFill>
                <a:latin typeface="Helvetica Neue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95299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1" i="0">
                <a:solidFill>
                  <a:srgbClr val="1A1714"/>
                </a:solidFill>
                <a:latin typeface="Helvetica Neue"/>
              </a:rPr>
              <a:t>PART 1  · 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0" y="495299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00" b="0" i="0">
                <a:solidFill>
                  <a:srgbClr val="847B6E"/>
                </a:solidFill>
                <a:latin typeface="Helvetica Neue"/>
              </a:rPr>
              <a:t>CHAPTER 03  · 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79500"/>
            <a:ext cx="952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 i="0">
                <a:solidFill>
                  <a:srgbClr val="B8472A"/>
                </a:solidFill>
                <a:latin typeface="Helvetica Neue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300" y="1301750"/>
            <a:ext cx="10795000" cy="7538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000" b="1" i="0">
                <a:solidFill>
                  <a:srgbClr val="1A1714"/>
                </a:solidFill>
                <a:latin typeface="Georgia"/>
              </a:rPr>
              <a:t>What, exactly, is Bedrock?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159000"/>
            <a:ext cx="9525000" cy="18089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700" b="0" i="0">
                <a:solidFill>
                  <a:srgbClr val="1A1714"/>
                </a:solidFill>
                <a:latin typeface="Georgia"/>
              </a:rPr>
              <a:t>A
 fully-managed AWS API that fronts a catalogue of foundation models — Anthropic Claude, Amazon Nova &amp; Titan, Meta Llama, Mistral, Cohere — behind one request shape, one auth model, one bill.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032250"/>
            <a:ext cx="10668000" cy="282575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 i="0">
                <a:solidFill>
                  <a:srgbClr val="B8472A"/>
                </a:solidFill>
                <a:latin typeface="Georgia"/>
              </a:rPr>
              <a:t>I.</a:t>
            </a:r>
          </a:p>
          <a:p>
            <a:pPr algn="l"/>
            <a:r>
              <a:rPr sz="1900" b="1" i="0">
                <a:solidFill>
                  <a:srgbClr val="1A1714"/>
                </a:solidFill>
                <a:latin typeface="Georgia"/>
              </a:rPr>
              <a:t>Many models,
one API</a:t>
            </a:r>
          </a:p>
          <a:p>
            <a:pPr algn="l"/>
            <a:r>
              <a:rPr sz="1100" b="0" i="0">
                <a:solidFill>
                  <a:srgbClr val="4A433B"/>
                </a:solidFill>
                <a:latin typeface="Georgia"/>
              </a:rPr>
              <a:t>Call bedrock-runtime the way you call any other AWS service. No per-vendor SDK, no per-vendor account.</a:t>
            </a:r>
          </a:p>
          <a:p>
            <a:pPr algn="l"/>
            <a:r>
              <a:rPr sz="900" b="1" i="0">
                <a:solidFill>
                  <a:srgbClr val="B8472A"/>
                </a:solidFill>
                <a:latin typeface="Georgia"/>
              </a:rPr>
              <a:t>II.</a:t>
            </a:r>
          </a:p>
          <a:p>
            <a:pPr algn="l"/>
            <a:r>
              <a:rPr sz="1900" b="1" i="0">
                <a:solidFill>
                  <a:srgbClr val="1A1714"/>
                </a:solidFill>
                <a:latin typeface="Georgia"/>
              </a:rPr>
              <a:t>No servers,
no GPUs</a:t>
            </a:r>
          </a:p>
          <a:p>
            <a:pPr algn="l"/>
            <a:r>
              <a:rPr sz="1100" b="0" i="0">
                <a:solidFill>
                  <a:srgbClr val="4A433B"/>
                </a:solidFill>
                <a:latin typeface="Georgia"/>
              </a:rPr>
              <a:t>Serverless in the course sense — AWS provisions, hosts, scales the model. You never see a GPU instance.</a:t>
            </a:r>
          </a:p>
          <a:p>
            <a:pPr algn="l"/>
            <a:r>
              <a:rPr sz="900" b="1" i="0">
                <a:solidFill>
                  <a:srgbClr val="B8472A"/>
                </a:solidFill>
                <a:latin typeface="Georgia"/>
              </a:rPr>
              <a:t>III.</a:t>
            </a:r>
          </a:p>
          <a:p>
            <a:pPr algn="l"/>
            <a:r>
              <a:rPr sz="1900" b="1" i="0">
                <a:solidFill>
                  <a:srgbClr val="1A1714"/>
                </a:solidFill>
                <a:latin typeface="Georgia"/>
              </a:rPr>
              <a:t>Pay per token,
scales to zero</a:t>
            </a:r>
          </a:p>
          <a:p>
            <a:pPr algn="l"/>
            <a:r>
              <a:rPr sz="1100" b="0" i="0">
                <a:solidFill>
                  <a:srgbClr val="4A433B"/>
                </a:solidFill>
                <a:latin typeface="Georgia"/>
              </a:rPr>
              <a:t>No minimum fleet, no idle GPU bill. Quiet hour costs you nothing; a spike just bills more tokens.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9799" y="5892800"/>
            <a:ext cx="10287000" cy="9580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1">
                <a:solidFill>
                  <a:srgbClr val="1A1714"/>
                </a:solidFill>
                <a:latin typeface="Georgia"/>
              </a:rPr>
              <a:t>Mental model  · 
 Bedrock is to LLMs what S3 is to storage — a managed AWS service you call, not infrastructure you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477000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0" i="0">
                <a:solidFill>
                  <a:srgbClr val="847B6E"/>
                </a:solidFill>
                <a:latin typeface="Helvetica Neue"/>
              </a:rPr>
              <a:t>AWS BEDROCK  ·  A FIELD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0" y="6477000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 i="0">
                <a:solidFill>
                  <a:srgbClr val="847B6E"/>
                </a:solidFill>
                <a:latin typeface="Helvetica Neue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95299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1" i="0">
                <a:solidFill>
                  <a:srgbClr val="1A1714"/>
                </a:solidFill>
                <a:latin typeface="Helvetica Neue"/>
              </a:rPr>
              <a:t>PART 1  · 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0" y="495299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00" b="0" i="0">
                <a:solidFill>
                  <a:srgbClr val="847B6E"/>
                </a:solidFill>
                <a:latin typeface="Helvetica Neue"/>
              </a:rPr>
              <a:t>CHAPTER 04  ·  THE 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79500"/>
            <a:ext cx="952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 i="0">
                <a:solidFill>
                  <a:srgbClr val="B8472A"/>
                </a:solidFill>
                <a:latin typeface="Helvetica Neue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300" y="1301750"/>
            <a:ext cx="10795000" cy="1366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800" b="1" i="0">
                <a:solidFill>
                  <a:srgbClr val="1A1714"/>
                </a:solidFill>
                <a:latin typeface="Georgia"/>
              </a:rPr>
              <a:t>Three SDKs, three key stores,
three request formats.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794000"/>
            <a:ext cx="4953000" cy="141757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847B6E"/>
                </a:solidFill>
                <a:latin typeface="Helvetica Neue"/>
              </a:rPr>
              <a:t>BEFORE  ·  WITHOUT BEDROCK</a:t>
            </a:r>
          </a:p>
          <a:p>
            <a:pPr algn="l"/>
            <a:r>
              <a:rPr sz="1200" b="0" i="0">
                <a:solidFill>
                  <a:srgbClr val="1A1714"/>
                </a:solidFill>
                <a:latin typeface="Georgia"/>
              </a:rPr>
              <a:t>One SDK + API key per vendor
 Secrets to store, rotate, audit
 Each vendor's own request shape
 Self-host means GPUs &amp;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0" y="3873499"/>
            <a:ext cx="508000" cy="6177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3200" b="1" i="0">
                <a:solidFill>
                  <a:srgbClr val="B8472A"/>
                </a:solidFill>
                <a:latin typeface="Georgia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2794000"/>
            <a:ext cx="4953000" cy="141757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AFTER  ·  WITH BEDROCK</a:t>
            </a:r>
          </a:p>
          <a:p>
            <a:pPr algn="l"/>
            <a:r>
              <a:rPr sz="1200" b="0" i="0">
                <a:solidFill>
                  <a:srgbClr val="F4EFE6"/>
                </a:solidFill>
                <a:latin typeface="Georgia"/>
              </a:rPr>
              <a:t>One boto3 client
 IAM auth — no keys to leak
 One Converse request shape
 Managed, scales to zero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715000"/>
            <a:ext cx="10668000" cy="10942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1">
                <a:solidFill>
                  <a:srgbClr val="1A1714"/>
                </a:solidFill>
                <a:latin typeface="Georgia"/>
              </a:rPr>
              <a:t>The take  · 
 Bedrock's win isn't “another LLM service.” It's collapsing three of them into one IAM-native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477000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0" i="0">
                <a:solidFill>
                  <a:srgbClr val="847B6E"/>
                </a:solidFill>
                <a:latin typeface="Helvetica Neue"/>
              </a:rPr>
              <a:t>AWS BEDROCK  ·  A FIELD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0" y="6477000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 i="0">
                <a:solidFill>
                  <a:srgbClr val="847B6E"/>
                </a:solidFill>
                <a:latin typeface="Helvetica Neue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95299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1" i="0">
                <a:solidFill>
                  <a:srgbClr val="1A1714"/>
                </a:solidFill>
                <a:latin typeface="Helvetica Neue"/>
              </a:rPr>
              <a:t>PART 1  · 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0" y="495299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00" b="0" i="0">
                <a:solidFill>
                  <a:srgbClr val="847B6E"/>
                </a:solidFill>
                <a:latin typeface="Helvetica Neue"/>
              </a:rPr>
              <a:t>CHAPTER 05  ·  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79500"/>
            <a:ext cx="952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 i="0">
                <a:solidFill>
                  <a:srgbClr val="B8472A"/>
                </a:solidFill>
                <a:latin typeface="Helvetica Neue"/>
              </a:rPr>
              <a:t>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300" y="1301750"/>
            <a:ext cx="10795000" cy="1366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800" b="1" i="0">
                <a:solidFill>
                  <a:srgbClr val="1A1714"/>
                </a:solidFill>
                <a:latin typeface="Georgia"/>
              </a:rPr>
              <a:t>Two planes,
one regional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300" y="2959100"/>
            <a:ext cx="4857750" cy="104317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CONTROL PLANE</a:t>
            </a:r>
          </a:p>
          <a:p>
            <a:pPr algn="l"/>
            <a:r>
              <a:rPr sz="1700" b="1" i="0">
                <a:solidFill>
                  <a:srgbClr val="1A1714"/>
                </a:solidFill>
                <a:latin typeface="Menlo"/>
              </a:rPr>
              <a:t>bedrock</a:t>
            </a:r>
          </a:p>
          <a:p>
            <a:pPr algn="l"/>
            <a:r>
              <a:rPr sz="1200" b="0" i="0">
                <a:solidFill>
                  <a:srgbClr val="4A433B"/>
                </a:solidFill>
                <a:latin typeface="Georgia"/>
              </a:rPr>
              <a:t>Manage &amp; discover — list models, view inference profiles, request access, see quotas. Admin-side calls.</a:t>
            </a:r>
          </a:p>
          <a:p>
            <a:pPr algn="l"/>
            <a:r>
              <a:rPr sz="900" b="0" i="1">
                <a:solidFill>
                  <a:srgbClr val="847B6E"/>
                </a:solidFill>
                <a:latin typeface="Helvetica Neue"/>
              </a:rPr>
              <a:t>You touch this rarely.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300" y="2959100"/>
            <a:ext cx="4857750" cy="104317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E89A6A"/>
                </a:solidFill>
                <a:latin typeface="Helvetica Neue"/>
              </a:rPr>
              <a:t>RUNTIME PLANE</a:t>
            </a:r>
          </a:p>
          <a:p>
            <a:pPr algn="l"/>
            <a:r>
              <a:rPr sz="1700" b="1" i="0">
                <a:solidFill>
                  <a:srgbClr val="F4EFE6"/>
                </a:solidFill>
                <a:latin typeface="Menlo"/>
              </a:rPr>
              <a:t>bedrock-runtime</a:t>
            </a:r>
          </a:p>
          <a:p>
            <a:pPr algn="l"/>
            <a:r>
              <a:rPr sz="1200" b="0" i="0">
                <a:solidFill>
                  <a:srgbClr val="F4EFE6"/>
                </a:solidFill>
                <a:latin typeface="Georgia"/>
              </a:rPr>
              <a:t>Call models — converse(), converse_stream(). Token-billed, latency-sensitive, the hot path.</a:t>
            </a:r>
          </a:p>
          <a:p>
            <a:pPr algn="l"/>
            <a:r>
              <a:rPr sz="900" b="0" i="1">
                <a:solidFill>
                  <a:srgbClr val="847B6E"/>
                </a:solidFill>
                <a:latin typeface="Helvetica Neue"/>
              </a:rPr>
              <a:t>You live in this plane.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397500"/>
            <a:ext cx="10668000" cy="14605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INTEGRATES WITH</a:t>
            </a:r>
          </a:p>
          <a:p>
            <a:pPr algn="l"/>
            <a:r>
              <a:rPr sz="1500" b="0" i="0">
                <a:solidFill>
                  <a:srgbClr val="1A1714"/>
                </a:solidFill>
                <a:latin typeface="Georgia"/>
              </a:rPr>
              <a:t>Lambda</a:t>
            </a:r>
          </a:p>
          <a:p>
            <a:pPr algn="l"/>
            <a:r>
              <a:rPr sz="1500" b="0" i="0">
                <a:solidFill>
                  <a:srgbClr val="847B6E"/>
                </a:solidFill>
                <a:latin typeface="Georgia"/>
              </a:rPr>
              <a:t>/</a:t>
            </a:r>
          </a:p>
          <a:p>
            <a:pPr algn="l"/>
            <a:r>
              <a:rPr sz="1500" b="0" i="0">
                <a:solidFill>
                  <a:srgbClr val="1A1714"/>
                </a:solidFill>
                <a:latin typeface="Georgia"/>
              </a:rPr>
              <a:t>Step Functions</a:t>
            </a:r>
          </a:p>
          <a:p>
            <a:pPr algn="l"/>
            <a:r>
              <a:rPr sz="1500" b="0" i="0">
                <a:solidFill>
                  <a:srgbClr val="847B6E"/>
                </a:solidFill>
                <a:latin typeface="Georgia"/>
              </a:rPr>
              <a:t>/</a:t>
            </a:r>
          </a:p>
          <a:p>
            <a:pPr algn="l"/>
            <a:r>
              <a:rPr sz="1500" b="0" i="0">
                <a:solidFill>
                  <a:srgbClr val="1A1714"/>
                </a:solidFill>
                <a:latin typeface="Georgia"/>
              </a:rPr>
              <a:t>CloudWatch</a:t>
            </a:r>
          </a:p>
          <a:p>
            <a:pPr algn="l"/>
            <a:r>
              <a:rPr sz="1500" b="0" i="0">
                <a:solidFill>
                  <a:srgbClr val="847B6E"/>
                </a:solidFill>
                <a:latin typeface="Georgia"/>
              </a:rPr>
              <a:t>/</a:t>
            </a:r>
          </a:p>
          <a:p>
            <a:pPr algn="l"/>
            <a:r>
              <a:rPr sz="1500" b="0" i="0">
                <a:solidFill>
                  <a:srgbClr val="1A1714"/>
                </a:solidFill>
                <a:latin typeface="Georgia"/>
              </a:rPr>
              <a:t>IAM</a:t>
            </a:r>
          </a:p>
          <a:p>
            <a:pPr algn="l"/>
            <a:r>
              <a:rPr sz="1500" b="0" i="0">
                <a:solidFill>
                  <a:srgbClr val="847B6E"/>
                </a:solidFill>
                <a:latin typeface="Georgia"/>
              </a:rPr>
              <a:t>/</a:t>
            </a:r>
          </a:p>
          <a:p>
            <a:pPr algn="l"/>
            <a:r>
              <a:rPr sz="1500" b="0" i="0">
                <a:solidFill>
                  <a:srgbClr val="1A1714"/>
                </a:solidFill>
                <a:latin typeface="Georgia"/>
              </a:rPr>
              <a:t>VPC 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477000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0" i="0">
                <a:solidFill>
                  <a:srgbClr val="847B6E"/>
                </a:solidFill>
                <a:latin typeface="Helvetica Neue"/>
              </a:rPr>
              <a:t>AWS BEDROCK  ·  A FIELD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0" y="6477000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 i="0">
                <a:solidFill>
                  <a:srgbClr val="847B6E"/>
                </a:solidFill>
                <a:latin typeface="Helvetica Neue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95299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1" i="0">
                <a:solidFill>
                  <a:srgbClr val="1A1714"/>
                </a:solidFill>
                <a:latin typeface="Helvetica Neue"/>
              </a:rPr>
              <a:t>PART 1  · 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0" y="495299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00" b="0" i="0">
                <a:solidFill>
                  <a:srgbClr val="847B6E"/>
                </a:solidFill>
                <a:latin typeface="Helvetica Neue"/>
              </a:rPr>
              <a:t>CHAPTER 06  · 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79500"/>
            <a:ext cx="952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 i="0">
                <a:solidFill>
                  <a:srgbClr val="B8472A"/>
                </a:solidFill>
                <a:latin typeface="Helvetica Neue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300" y="1301750"/>
            <a:ext cx="10795000" cy="1366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800" b="1" i="0">
                <a:solidFill>
                  <a:srgbClr val="1A1714"/>
                </a:solidFill>
                <a:latin typeface="Georgia"/>
              </a:rPr>
              <a:t>From your code
to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149600"/>
            <a:ext cx="2159000" cy="36245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YOUR APPLICATION</a:t>
            </a:r>
          </a:p>
          <a:p>
            <a:pPr algn="l"/>
            <a:r>
              <a:rPr sz="1000" b="1" i="0">
                <a:solidFill>
                  <a:srgbClr val="1A1714"/>
                </a:solidFill>
                <a:latin typeface="Menlo"/>
              </a:rPr>
              <a:t>boto3 · aioboto3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714750"/>
            <a:ext cx="2413000" cy="60071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1" i="0">
                <a:solidFill>
                  <a:srgbClr val="B8472A"/>
                </a:solidFill>
                <a:latin typeface="Helvetica Neue"/>
              </a:rPr>
              <a:t>IAM-SIGNED HTTPS</a:t>
            </a:r>
          </a:p>
          <a:p>
            <a:pPr algn="ctr"/>
            <a:r>
              <a:rPr sz="2400" b="1" i="0">
                <a:solidFill>
                  <a:srgbClr val="1A1714"/>
                </a:solidFill>
                <a:latin typeface="Georgia"/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419600"/>
            <a:ext cx="2159000" cy="36245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E89A6A"/>
                </a:solidFill>
                <a:latin typeface="Helvetica Neue"/>
              </a:rPr>
              <a:t>RUNTIME ENDPOINT (REGIONAL)</a:t>
            </a:r>
          </a:p>
          <a:p>
            <a:pPr algn="l"/>
            <a:r>
              <a:rPr sz="1000" b="1" i="0">
                <a:solidFill>
                  <a:srgbClr val="F4EFE6"/>
                </a:solidFill>
                <a:latin typeface="Menlo"/>
              </a:rPr>
              <a:t>bedrock-runtime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8500" y="4483100"/>
            <a:ext cx="762000" cy="66878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100" b="1" i="0">
                <a:solidFill>
                  <a:srgbClr val="B8472A"/>
                </a:solidFill>
                <a:latin typeface="Georgia"/>
              </a:rPr>
              <a:t>→</a:t>
            </a:r>
          </a:p>
          <a:p>
            <a:pPr algn="ctr"/>
            <a:r>
              <a:rPr sz="700" b="1" i="0">
                <a:solidFill>
                  <a:srgbClr val="847B6E"/>
                </a:solidFill>
                <a:latin typeface="Helvetica Neue"/>
              </a:rPr>
              <a:t>ROUTED BY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300" y="4419600"/>
            <a:ext cx="1460500" cy="345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FOUNDATION MODEL</a:t>
            </a:r>
          </a:p>
          <a:p>
            <a:pPr algn="l"/>
            <a:r>
              <a:rPr sz="900" b="0" i="1">
                <a:solidFill>
                  <a:srgbClr val="1A1714"/>
                </a:solidFill>
                <a:latin typeface="Georgia"/>
              </a:rPr>
              <a:t>Claude · Nova · Llama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940300"/>
            <a:ext cx="2413000" cy="4815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847B6E"/>
                </a:solidFill>
                <a:latin typeface="Georgia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5537200"/>
            <a:ext cx="2159000" cy="345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847B6E"/>
                </a:solidFill>
                <a:latin typeface="Helvetica Neue"/>
              </a:rPr>
              <a:t>TELEMETRY</a:t>
            </a:r>
          </a:p>
          <a:p>
            <a:pPr algn="l"/>
            <a:r>
              <a:rPr sz="900" b="0" i="0">
                <a:solidFill>
                  <a:srgbClr val="4A433B"/>
                </a:solidFill>
                <a:latin typeface="Menlo"/>
              </a:rPr>
              <a:t>CloudWatch · cost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2730500"/>
            <a:ext cx="4953000" cy="3794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REAL CODE · CORE/BEDROCK.PY</a:t>
            </a:r>
          </a:p>
          <a:p>
            <a:pPr algn="l"/>
            <a:r>
              <a:rPr sz="1100" b="0" i="1">
                <a:solidFill>
                  <a:srgbClr val="1A1714"/>
                </a:solidFill>
                <a:latin typeface="Georgia"/>
              </a:rPr>
              <a:t>Creating the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5016500"/>
            <a:ext cx="4953000" cy="87299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FOUR COMPONENTS PER CALL</a:t>
            </a:r>
          </a:p>
          <a:p>
            <a:pPr algn="l"/>
            <a:r>
              <a:rPr sz="1000" b="0" i="0">
                <a:solidFill>
                  <a:srgbClr val="1A1714"/>
                </a:solidFill>
                <a:latin typeface="Georgia"/>
              </a:rPr>
              <a:t>1. Runtime client</a:t>
            </a:r>
          </a:p>
          <a:p>
            <a:pPr algn="l"/>
            <a:r>
              <a:rPr sz="1000" b="0" i="0">
                <a:solidFill>
                  <a:srgbClr val="1A1714"/>
                </a:solidFill>
                <a:latin typeface="Georgia"/>
              </a:rPr>
              <a:t>2. Model / profile ID</a:t>
            </a:r>
          </a:p>
          <a:p>
            <a:pPr algn="l"/>
            <a:r>
              <a:rPr sz="1000" b="0" i="0">
                <a:solidFill>
                  <a:srgbClr val="1A1714"/>
                </a:solidFill>
                <a:latin typeface="Georgia"/>
              </a:rPr>
              <a:t>3. Request (sys + msgs + cfg)</a:t>
            </a:r>
          </a:p>
          <a:p>
            <a:pPr algn="l"/>
            <a:r>
              <a:rPr sz="1000" b="0" i="0">
                <a:solidFill>
                  <a:srgbClr val="1A1714"/>
                </a:solidFill>
                <a:latin typeface="Georgia"/>
              </a:rPr>
              <a:t>4. Response (content + tokens)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477000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0" i="0">
                <a:solidFill>
                  <a:srgbClr val="847B6E"/>
                </a:solidFill>
                <a:latin typeface="Helvetica Neue"/>
              </a:rPr>
              <a:t>AWS BEDROCK  ·  A FIELD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0" y="6477000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 i="0">
                <a:solidFill>
                  <a:srgbClr val="847B6E"/>
                </a:solidFill>
                <a:latin typeface="Helvetica Neue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95299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1" i="0">
                <a:solidFill>
                  <a:srgbClr val="1A1714"/>
                </a:solidFill>
                <a:latin typeface="Helvetica Neue"/>
              </a:rPr>
              <a:t>PART 1  · 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0" y="495299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00" b="0" i="0">
                <a:solidFill>
                  <a:srgbClr val="847B6E"/>
                </a:solidFill>
                <a:latin typeface="Helvetica Neue"/>
              </a:rPr>
              <a:t>CHAPTER 07  ·  THE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47749"/>
            <a:ext cx="8890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 i="0">
                <a:solidFill>
                  <a:srgbClr val="B8472A"/>
                </a:solidFill>
                <a:latin typeface="Helvetica Neue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300" y="1270000"/>
            <a:ext cx="10795000" cy="1366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800" b="1" i="0">
                <a:solidFill>
                  <a:srgbClr val="1A1714"/>
                </a:solidFill>
                <a:latin typeface="Georgia"/>
              </a:rPr>
              <a:t>One request shape.
Every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730500"/>
            <a:ext cx="4953000" cy="5836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1">
                <a:solidFill>
                  <a:srgbClr val="4A433B"/>
                </a:solidFill>
                <a:latin typeface="Georgia"/>
              </a:rPr>
              <a:t>“This exact dict works for Claude, Nova, Llama, Mistral — I only change modelId.”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064000"/>
            <a:ext cx="4953000" cy="18089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" b="1" i="0">
                <a:solidFill>
                  <a:srgbClr val="B8472A"/>
                </a:solidFill>
                <a:latin typeface="Georgia"/>
              </a:rPr>
              <a:t>§1</a:t>
            </a:r>
          </a:p>
          <a:p>
            <a:pPr algn="l"/>
            <a:r>
              <a:rPr sz="1100" b="1" i="0">
                <a:solidFill>
                  <a:srgbClr val="1A1714"/>
                </a:solidFill>
                <a:latin typeface="Helvetica Neue"/>
              </a:rPr>
              <a:t>Converse unifies the request shape</a:t>
            </a:r>
          </a:p>
          <a:p>
            <a:pPr algn="l"/>
            <a:r>
              <a:rPr sz="1100" b="0" i="0">
                <a:solidFill>
                  <a:srgbClr val="4A433B"/>
                </a:solidFill>
                <a:latin typeface="Georgia"/>
              </a:rPr>
              <a:t>Same system + messages + inferenceConfig for every vendor. Swap models by changing one string — no rewrite, no new SDK.</a:t>
            </a:r>
          </a:p>
          <a:p>
            <a:pPr algn="l"/>
            <a:r>
              <a:rPr sz="1800" b="1" i="0">
                <a:solidFill>
                  <a:srgbClr val="B8472A"/>
                </a:solidFill>
                <a:latin typeface="Georgia"/>
              </a:rPr>
              <a:t>§2</a:t>
            </a:r>
          </a:p>
          <a:p>
            <a:pPr algn="l"/>
            <a:r>
              <a:rPr sz="1100" b="1" i="0">
                <a:solidFill>
                  <a:srgbClr val="1A1714"/>
                </a:solidFill>
                <a:latin typeface="Helvetica Neue"/>
              </a:rPr>
              <a:t>Inference profiles route across regions</a:t>
            </a:r>
          </a:p>
          <a:p>
            <a:pPr algn="l"/>
            <a:r>
              <a:rPr sz="1100" b="0" i="0">
                <a:solidFill>
                  <a:srgbClr val="4A433B"/>
                </a:solidFill>
                <a:latin typeface="Georgia"/>
              </a:rPr>
              <a:t>The us. prefix on us.anthropic.claude‑sonnet‑4‑6 load-balances across US regions — throughput &amp; availability without code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2730500"/>
            <a:ext cx="5143500" cy="3794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REAL CODE · CORE/BEDROCK.PY</a:t>
            </a:r>
          </a:p>
          <a:p>
            <a:pPr algn="l"/>
            <a:r>
              <a:rPr sz="1100" b="0" i="1">
                <a:solidFill>
                  <a:srgbClr val="1A1714"/>
                </a:solidFill>
                <a:latin typeface="Georgia"/>
              </a:rPr>
              <a:t>_build_converse_kwargs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477000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0" i="0">
                <a:solidFill>
                  <a:srgbClr val="847B6E"/>
                </a:solidFill>
                <a:latin typeface="Helvetica Neue"/>
              </a:rPr>
              <a:t>AWS BEDROCK  ·  A FIELD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0" y="6477000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 i="0">
                <a:solidFill>
                  <a:srgbClr val="847B6E"/>
                </a:solidFill>
                <a:latin typeface="Helvetica Neue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95299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1" i="0">
                <a:solidFill>
                  <a:srgbClr val="1A1714"/>
                </a:solidFill>
                <a:latin typeface="Helvetica Neue"/>
              </a:rPr>
              <a:t>PART 1  · 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0" y="495299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00" b="0" i="0">
                <a:solidFill>
                  <a:srgbClr val="847B6E"/>
                </a:solidFill>
                <a:latin typeface="Helvetica Neue"/>
              </a:rPr>
              <a:t>CHAPTER 08  · 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79500"/>
            <a:ext cx="952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 i="0">
                <a:solidFill>
                  <a:srgbClr val="B8472A"/>
                </a:solidFill>
                <a:latin typeface="Helvetica Neue"/>
              </a:rPr>
              <a:t>RELIABILITY — TOOL-USE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300" y="1301750"/>
            <a:ext cx="10795000" cy="1366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800" b="1" i="0">
                <a:solidFill>
                  <a:srgbClr val="1A1714"/>
                </a:solidFill>
                <a:latin typeface="Georgia"/>
              </a:rPr>
              <a:t>Guaranteed JSON,
not parsed prose.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730500"/>
            <a:ext cx="5270500" cy="66878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THE PROBLEM</a:t>
            </a:r>
          </a:p>
          <a:p>
            <a:pPr algn="l"/>
            <a:r>
              <a:rPr sz="1400" b="0" i="0">
                <a:solidFill>
                  <a:srgbClr val="1A1714"/>
                </a:solidFill>
                <a:latin typeface="Georgia"/>
              </a:rPr>
              <a:t>LLMs return prose. Production code needs a typed dict. Regex-on-prose is how demos pass and pipelines fail at 3am.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937000"/>
            <a:ext cx="5270500" cy="90703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THE FIX</a:t>
            </a:r>
          </a:p>
          <a:p>
            <a:pPr algn="l"/>
            <a:r>
              <a:rPr sz="1400" b="0" i="0">
                <a:solidFill>
                  <a:srgbClr val="1A1714"/>
                </a:solidFill>
                <a:latin typeface="Georgia"/>
              </a:rPr>
              <a:t>Bedrock's tool-use exposes your Pydantic schema as a tool. toolChoice forces the model to call it — the response block is already valid, typed JSON.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9799" y="5651500"/>
            <a:ext cx="5080000" cy="277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1A1714"/>
                </a:solidFill>
                <a:latin typeface="Georgia"/>
              </a:rPr>
              <a:t>The difference between a demo and a production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0500" y="2730500"/>
            <a:ext cx="4953000" cy="3794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REAL CODE · CORE/BEDROCK.PY</a:t>
            </a:r>
          </a:p>
          <a:p>
            <a:pPr algn="l"/>
            <a:r>
              <a:rPr sz="1100" b="0" i="1">
                <a:solidFill>
                  <a:srgbClr val="1A1714"/>
                </a:solidFill>
                <a:latin typeface="Georgia"/>
              </a:rPr>
              <a:t>Forcing structured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0500" y="5588000"/>
            <a:ext cx="4953000" cy="36245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WHAT YOU GET</a:t>
            </a:r>
          </a:p>
          <a:p>
            <a:pPr algn="l"/>
            <a:r>
              <a:rPr sz="1000" b="0" i="0">
                <a:solidFill>
                  <a:srgbClr val="1A1714"/>
                </a:solidFill>
                <a:latin typeface="Georgia"/>
              </a:rPr>
              <a:t>No regex · No retries on malformed JSON · Pydantic types you can trust.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477000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0" i="0">
                <a:solidFill>
                  <a:srgbClr val="847B6E"/>
                </a:solidFill>
                <a:latin typeface="Helvetica Neue"/>
              </a:rPr>
              <a:t>AWS BEDROCK  ·  A FIELD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0" y="6477000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 i="0">
                <a:solidFill>
                  <a:srgbClr val="847B6E"/>
                </a:solidFill>
                <a:latin typeface="Helvetica Neue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95299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1" i="0">
                <a:solidFill>
                  <a:srgbClr val="1A1714"/>
                </a:solidFill>
                <a:latin typeface="Helvetica Neue"/>
              </a:rPr>
              <a:t>PART 1  · 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0" y="495299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00" b="0" i="0">
                <a:solidFill>
                  <a:srgbClr val="847B6E"/>
                </a:solidFill>
                <a:latin typeface="Helvetica Neue"/>
              </a:rPr>
              <a:t>CHAPTER 09  ·  LEVERS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79500"/>
            <a:ext cx="952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 i="0">
                <a:solidFill>
                  <a:srgbClr val="B8472A"/>
                </a:solidFill>
                <a:latin typeface="Helvetica Neue"/>
              </a:rPr>
              <a:t>TWO MORE LEVERS WORTH KNOWING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300" y="1301750"/>
            <a:ext cx="10795000" cy="1366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800" b="1" i="0">
                <a:solidFill>
                  <a:srgbClr val="1A1714"/>
                </a:solidFill>
                <a:latin typeface="Georgia"/>
              </a:rPr>
              <a:t>Cheaper repeats.
Smarter answers.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300" y="2959100"/>
            <a:ext cx="4826000" cy="27109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200" b="1" i="0">
                <a:solidFill>
                  <a:srgbClr val="B8472A"/>
                </a:solidFill>
                <a:latin typeface="Georgia"/>
              </a:rPr>
              <a:t>¶ I</a:t>
            </a:r>
          </a:p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MONEY LEVER</a:t>
            </a:r>
          </a:p>
          <a:p>
            <a:pPr algn="l"/>
            <a:r>
              <a:rPr sz="2100" b="1" i="0">
                <a:solidFill>
                  <a:srgbClr val="1A1714"/>
                </a:solidFill>
                <a:latin typeface="Georgia"/>
              </a:rPr>
              <a:t>Prompt caching</a:t>
            </a:r>
          </a:p>
          <a:p>
            <a:pPr algn="l"/>
            <a:r>
              <a:rPr sz="1100" b="0" i="0">
                <a:solidFill>
                  <a:srgbClr val="4A433B"/>
                </a:solidFill>
                <a:latin typeface="Georgia"/>
              </a:rPr>
              <a:t>A fixed system prompt — our classifier “brief” — is reused across thousands of findings. Pay full price once; cache reads thereafter.</a:t>
            </a:r>
          </a:p>
          <a:p>
            <a:pPr algn="l"/>
            <a:r>
              <a:rPr sz="4000" b="1" i="0">
                <a:solidFill>
                  <a:srgbClr val="B8472A"/>
                </a:solidFill>
                <a:latin typeface="Georgia"/>
              </a:rPr>
              <a:t>10%</a:t>
            </a:r>
          </a:p>
          <a:p>
            <a:pPr algn="l"/>
            <a:r>
              <a:rPr sz="1100" b="0" i="0">
                <a:solidFill>
                  <a:srgbClr val="4A433B"/>
                </a:solidFill>
                <a:latin typeface="Georgia"/>
              </a:rPr>
              <a:t>of the input rate
on cache reads.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959100"/>
            <a:ext cx="4826000" cy="192811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200" b="1" i="0">
                <a:solidFill>
                  <a:srgbClr val="E89A6A"/>
                </a:solidFill>
                <a:latin typeface="Georgia"/>
              </a:rPr>
              <a:t>¶ II</a:t>
            </a:r>
          </a:p>
          <a:p>
            <a:pPr algn="l"/>
            <a:r>
              <a:rPr sz="700" b="1" i="0">
                <a:solidFill>
                  <a:srgbClr val="E89A6A"/>
                </a:solidFill>
                <a:latin typeface="Helvetica Neue"/>
              </a:rPr>
              <a:t>QUALITY LEVER</a:t>
            </a:r>
          </a:p>
          <a:p>
            <a:pPr algn="l"/>
            <a:r>
              <a:rPr sz="2100" b="1" i="0">
                <a:solidFill>
                  <a:srgbClr val="F4EFE6"/>
                </a:solidFill>
                <a:latin typeface="Georgia"/>
              </a:rPr>
              <a:t>Extended thinking</a:t>
            </a:r>
          </a:p>
          <a:p>
            <a:pPr algn="l"/>
            <a:r>
              <a:rPr sz="1100" b="0" i="0">
                <a:solidFill>
                  <a:srgbClr val="F4EFE6"/>
                </a:solidFill>
                <a:latin typeface="Georgia"/>
              </a:rPr>
              <a:t>Let the model spend extra tokens reasoning before it answers — pay more, decide better on the genuinely hard calls.</a:t>
            </a:r>
          </a:p>
          <a:p>
            <a:pPr algn="l"/>
            <a:r>
              <a:rPr sz="700" b="1" i="0">
                <a:solidFill>
                  <a:srgbClr val="E89A6A"/>
                </a:solidFill>
                <a:latin typeface="Helvetica Neue"/>
              </a:rPr>
              <a:t>HONEST NUANCE</a:t>
            </a:r>
          </a:p>
          <a:p>
            <a:pPr algn="l"/>
            <a:r>
              <a:rPr sz="1000" b="0" i="0">
                <a:solidFill>
                  <a:srgbClr val="F4EFE6"/>
                </a:solidFill>
                <a:latin typeface="Georgia"/>
              </a:rPr>
              <a:t>Forced tool-use + thinking can't combine — we relax to toolChoice: auto and the parser handles the fallback.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477000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0" i="0">
                <a:solidFill>
                  <a:srgbClr val="847B6E"/>
                </a:solidFill>
                <a:latin typeface="Helvetica Neue"/>
              </a:rPr>
              <a:t>AWS BEDROCK  ·  A FIELD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0" y="6477000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 i="0">
                <a:solidFill>
                  <a:srgbClr val="847B6E"/>
                </a:solidFill>
                <a:latin typeface="Helvetica Neue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95299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1" i="0">
                <a:solidFill>
                  <a:srgbClr val="1A1714"/>
                </a:solidFill>
                <a:latin typeface="Helvetica Neue"/>
              </a:rPr>
              <a:t>PART 2  · 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0" y="495299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00" b="0" i="0">
                <a:solidFill>
                  <a:srgbClr val="847B6E"/>
                </a:solidFill>
                <a:latin typeface="Helvetica Neue"/>
              </a:rPr>
              <a:t>CHAPTER 10  ·  THE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79500"/>
            <a:ext cx="952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 i="0">
                <a:solidFill>
                  <a:srgbClr val="B8472A"/>
                </a:solidFill>
                <a:latin typeface="Helvetica Neue"/>
              </a:rPr>
              <a:t>THE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300" y="1301750"/>
            <a:ext cx="1079500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1A1714"/>
                </a:solidFill>
                <a:latin typeface="Georgia"/>
              </a:rPr>
              <a:t>If not Bedrock, then what?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413000"/>
            <a:ext cx="10668000" cy="4445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847B6E"/>
                </a:solidFill>
                <a:latin typeface="Helvetica Neue"/>
              </a:rPr>
              <a:t>OPTION</a:t>
            </a:r>
          </a:p>
          <a:p>
            <a:pPr algn="l"/>
            <a:r>
              <a:rPr sz="700" b="1" i="0">
                <a:solidFill>
                  <a:srgbClr val="847B6E"/>
                </a:solidFill>
                <a:latin typeface="Helvetica Neue"/>
              </a:rPr>
              <a:t>WHAT YOU GET</a:t>
            </a:r>
          </a:p>
          <a:p>
            <a:pPr algn="l"/>
            <a:r>
              <a:rPr sz="700" b="1" i="0">
                <a:solidFill>
                  <a:srgbClr val="847B6E"/>
                </a:solidFill>
                <a:latin typeface="Helvetica Neue"/>
              </a:rPr>
              <a:t>TRADE-OFF</a:t>
            </a:r>
          </a:p>
          <a:p>
            <a:pPr algn="r"/>
            <a:r>
              <a:rPr sz="700" b="1" i="0">
                <a:solidFill>
                  <a:srgbClr val="847B6E"/>
                </a:solidFill>
                <a:latin typeface="Helvetica Neue"/>
              </a:rPr>
              <a:t>PICK?</a:t>
            </a:r>
          </a:p>
          <a:p>
            <a:pPr algn="l"/>
            <a:r>
              <a:rPr sz="1500" b="1" i="0">
                <a:solidFill>
                  <a:srgbClr val="1A1714"/>
                </a:solidFill>
                <a:latin typeface="Georgia"/>
              </a:rPr>
              <a:t>SageMaker JumpStart</a:t>
            </a:r>
          </a:p>
          <a:p>
            <a:pPr algn="l"/>
            <a:r>
              <a:rPr sz="700" b="0" i="0">
                <a:solidFill>
                  <a:srgbClr val="847B6E"/>
                </a:solidFill>
                <a:latin typeface="Helvetica Neue"/>
              </a:rPr>
              <a:t>Self-host on your endpoint</a:t>
            </a:r>
          </a:p>
          <a:p>
            <a:pPr algn="l"/>
            <a:r>
              <a:rPr sz="1100" b="0" i="0">
                <a:solidFill>
                  <a:srgbClr val="1A1714"/>
                </a:solidFill>
                <a:latin typeface="Georgia"/>
              </a:rPr>
              <a:t>Deploy &amp; run models on your own infra — most control, most knobs.</a:t>
            </a:r>
          </a:p>
          <a:p>
            <a:pPr algn="l"/>
            <a:r>
              <a:rPr sz="1100" b="0" i="0">
                <a:solidFill>
                  <a:srgbClr val="4A433B"/>
                </a:solidFill>
                <a:latin typeface="Georgia"/>
              </a:rPr>
              <a:t>You manage instances, scaling, ops, GPU bill.</a:t>
            </a:r>
          </a:p>
          <a:p>
            <a:pPr algn="l"/>
            <a:r>
              <a:rPr sz="1600" b="1" i="0">
                <a:solidFill>
                  <a:srgbClr val="847B6E"/>
                </a:solidFill>
                <a:latin typeface="Georgia"/>
              </a:rPr>
              <a:t>○</a:t>
            </a:r>
          </a:p>
          <a:p>
            <a:pPr algn="l"/>
            <a:r>
              <a:rPr sz="1500" b="1" i="0">
                <a:solidFill>
                  <a:srgbClr val="1A1714"/>
                </a:solidFill>
                <a:latin typeface="Georgia"/>
              </a:rPr>
              <a:t>Lambda + external LLM</a:t>
            </a:r>
          </a:p>
          <a:p>
            <a:pPr algn="l"/>
            <a:r>
              <a:rPr sz="700" b="0" i="0">
                <a:solidFill>
                  <a:srgbClr val="847B6E"/>
                </a:solidFill>
                <a:latin typeface="Helvetica Neue"/>
              </a:rPr>
              <a:t>OpenAI / Anthropic direct</a:t>
            </a:r>
          </a:p>
          <a:p>
            <a:pPr algn="l"/>
            <a:r>
              <a:rPr sz="1100" b="0" i="0">
                <a:solidFill>
                  <a:srgbClr val="1A1714"/>
                </a:solidFill>
                <a:latin typeface="Georgia"/>
              </a:rPr>
              <a:t>Call vendor APIs directly from your code — broadest model menu.</a:t>
            </a:r>
          </a:p>
          <a:p>
            <a:pPr algn="l"/>
            <a:r>
              <a:rPr sz="1100" b="0" i="0">
                <a:solidFill>
                  <a:srgbClr val="4A433B"/>
                </a:solidFill>
                <a:latin typeface="Georgia"/>
              </a:rPr>
              <a:t>You manage keys; no AWS catalog or IAM-native auth.</a:t>
            </a:r>
          </a:p>
          <a:p>
            <a:pPr algn="l"/>
            <a:r>
              <a:rPr sz="1600" b="1" i="0">
                <a:solidFill>
                  <a:srgbClr val="847B6E"/>
                </a:solidFill>
                <a:latin typeface="Georgia"/>
              </a:rPr>
              <a:t>○</a:t>
            </a:r>
          </a:p>
          <a:p>
            <a:pPr algn="l"/>
            <a:r>
              <a:rPr sz="1500" b="1" i="0">
                <a:solidFill>
                  <a:srgbClr val="1A1714"/>
                </a:solidFill>
                <a:latin typeface="Georgia"/>
              </a:rPr>
              <a:t>Amazon Q</a:t>
            </a:r>
          </a:p>
          <a:p>
            <a:pPr algn="l"/>
            <a:r>
              <a:rPr sz="700" b="0" i="0">
                <a:solidFill>
                  <a:srgbClr val="847B6E"/>
                </a:solidFill>
                <a:latin typeface="Helvetica Neue"/>
              </a:rPr>
              <a:t>Prebuilt AWS assistant</a:t>
            </a:r>
          </a:p>
          <a:p>
            <a:pPr algn="l"/>
            <a:r>
              <a:rPr sz="1100" b="0" i="0">
                <a:solidFill>
                  <a:srgbClr val="1A1714"/>
                </a:solidFill>
                <a:latin typeface="Georgia"/>
              </a:rPr>
              <a:t>Higher-level assistant for AWS &amp; business workflows.</a:t>
            </a:r>
          </a:p>
          <a:p>
            <a:pPr algn="l"/>
            <a:r>
              <a:rPr sz="1100" b="0" i="0">
                <a:solidFill>
                  <a:srgbClr val="4A433B"/>
                </a:solidFill>
                <a:latin typeface="Georgia"/>
              </a:rPr>
              <a:t>Opinionated; not raw model access.</a:t>
            </a:r>
          </a:p>
          <a:p>
            <a:pPr algn="l"/>
            <a:r>
              <a:rPr sz="1600" b="1" i="0">
                <a:solidFill>
                  <a:srgbClr val="847B6E"/>
                </a:solidFill>
                <a:latin typeface="Georgia"/>
              </a:rPr>
              <a:t>○</a:t>
            </a:r>
          </a:p>
          <a:p>
            <a:pPr algn="l"/>
            <a:r>
              <a:rPr sz="1500" b="1" i="0">
                <a:solidFill>
                  <a:srgbClr val="F4EFE6"/>
                </a:solidFill>
                <a:latin typeface="Georgia"/>
              </a:rPr>
              <a:t>Bedrock</a:t>
            </a:r>
          </a:p>
          <a:p>
            <a:pPr algn="l"/>
            <a:r>
              <a:rPr sz="700" b="0" i="0">
                <a:solidFill>
                  <a:srgbClr val="E89A6A"/>
                </a:solidFill>
                <a:latin typeface="Helvetica Neue"/>
              </a:rPr>
              <a:t>Managed catalog + raw API</a:t>
            </a:r>
          </a:p>
          <a:p>
            <a:pPr algn="l"/>
            <a:r>
              <a:rPr sz="1100" b="0" i="0">
                <a:solidFill>
                  <a:srgbClr val="F4EFE6"/>
                </a:solidFill>
                <a:latin typeface="Georgia"/>
              </a:rPr>
              <a:t>One IAM-auth API, many models — no infra to run.</a:t>
            </a:r>
          </a:p>
          <a:p>
            <a:pPr algn="l"/>
            <a:r>
              <a:rPr sz="1100" b="0" i="0">
                <a:solidFill>
                  <a:srgbClr val="F4EFE6"/>
                </a:solidFill>
                <a:latin typeface="Georgia"/>
              </a:rPr>
              <a:t>The middle ground — less control than SageMaker, more than Q.</a:t>
            </a:r>
          </a:p>
          <a:p>
            <a:pPr algn="l"/>
            <a:r>
              <a:rPr sz="1600" b="1" i="0">
                <a:solidFill>
                  <a:srgbClr val="E89A6A"/>
                </a:solidFill>
                <a:latin typeface="Georgia"/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799" y="5892800"/>
            <a:ext cx="10287000" cy="9651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1A1714"/>
                </a:solidFill>
                <a:latin typeface="Georgia"/>
              </a:rPr>
              <a:t>In our repo  · 
 We do use OpenAI direct + OpenRouter for two sub-tasks — each needed its own wrapper module. That contrast is the lesson on slide 15.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477000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0" i="0">
                <a:solidFill>
                  <a:srgbClr val="847B6E"/>
                </a:solidFill>
                <a:latin typeface="Helvetica Neue"/>
              </a:rPr>
              <a:t>AWS BEDROCK  ·  A FIELD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0" y="6477000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 i="0">
                <a:solidFill>
                  <a:srgbClr val="847B6E"/>
                </a:solidFill>
                <a:latin typeface="Helvetica Neue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95299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1" i="0">
                <a:solidFill>
                  <a:srgbClr val="1A1714"/>
                </a:solidFill>
                <a:latin typeface="Helvetica Neue"/>
              </a:rPr>
              <a:t>PART 2  · 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0" y="495299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00" b="0" i="0">
                <a:solidFill>
                  <a:srgbClr val="847B6E"/>
                </a:solidFill>
                <a:latin typeface="Helvetica Neue"/>
              </a:rPr>
              <a:t>CHAPTER 11  · 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79500"/>
            <a:ext cx="952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 i="0">
                <a:solidFill>
                  <a:srgbClr val="B8472A"/>
                </a:solidFill>
                <a:latin typeface="Helvetica Neue"/>
              </a:rPr>
              <a:t>THE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300" y="1301750"/>
            <a:ext cx="10795000" cy="1366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800" b="1" i="0">
                <a:solidFill>
                  <a:srgbClr val="1A1714"/>
                </a:solidFill>
                <a:latin typeface="Georgia"/>
              </a:rPr>
              <a:t>What we love.
What we worked around.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889250"/>
            <a:ext cx="5207000" cy="23195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000" b="1" i="0">
                <a:solidFill>
                  <a:srgbClr val="B8472A"/>
                </a:solidFill>
                <a:latin typeface="Georgia"/>
              </a:rPr>
              <a:t>+</a:t>
            </a:r>
          </a:p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ADVANTAGES</a:t>
            </a:r>
          </a:p>
          <a:p>
            <a:pPr algn="l"/>
            <a:r>
              <a:rPr sz="1200" b="1" i="0">
                <a:solidFill>
                  <a:srgbClr val="1A1714"/>
                </a:solidFill>
                <a:latin typeface="Georgia"/>
              </a:rPr>
              <a:t>One API, many models</a:t>
            </a:r>
          </a:p>
          <a:p>
            <a:pPr algn="l"/>
            <a:r>
              <a:rPr sz="900" b="0" i="0">
                <a:solidFill>
                  <a:srgbClr val="4A433B"/>
                </a:solidFill>
                <a:latin typeface="Georgia"/>
              </a:rPr>
              <a:t>Converse handles every supported provider.</a:t>
            </a:r>
          </a:p>
          <a:p>
            <a:pPr algn="l"/>
            <a:r>
              <a:rPr sz="1200" b="1" i="0">
                <a:solidFill>
                  <a:srgbClr val="1A1714"/>
                </a:solidFill>
                <a:latin typeface="Georgia"/>
              </a:rPr>
              <a:t>IAM auth — no API keys</a:t>
            </a:r>
          </a:p>
          <a:p>
            <a:pPr algn="l"/>
            <a:r>
              <a:rPr sz="900" b="0" i="0">
                <a:solidFill>
                  <a:srgbClr val="4A433B"/>
                </a:solidFill>
                <a:latin typeface="Georgia"/>
              </a:rPr>
              <a:t>Use the role you already have.</a:t>
            </a:r>
          </a:p>
          <a:p>
            <a:pPr algn="l"/>
            <a:r>
              <a:rPr sz="1200" b="1" i="0">
                <a:solidFill>
                  <a:srgbClr val="1A1714"/>
                </a:solidFill>
                <a:latin typeface="Georgia"/>
              </a:rPr>
              <a:t>Managed &amp; serverless</a:t>
            </a:r>
          </a:p>
          <a:p>
            <a:pPr algn="l"/>
            <a:r>
              <a:rPr sz="900" b="0" i="0">
                <a:solidFill>
                  <a:srgbClr val="4A433B"/>
                </a:solidFill>
                <a:latin typeface="Georgia"/>
              </a:rPr>
              <a:t>Scales to zero; pay per token.</a:t>
            </a:r>
          </a:p>
          <a:p>
            <a:pPr algn="l"/>
            <a:r>
              <a:rPr sz="1200" b="1" i="0">
                <a:solidFill>
                  <a:srgbClr val="1A1714"/>
                </a:solidFill>
                <a:latin typeface="Georgia"/>
              </a:rPr>
              <a:t>Caching, tool-use, thinking built-in</a:t>
            </a:r>
          </a:p>
          <a:p>
            <a:pPr algn="l"/>
            <a:r>
              <a:rPr sz="900" b="0" i="0">
                <a:solidFill>
                  <a:srgbClr val="4A433B"/>
                </a:solidFill>
                <a:latin typeface="Georgia"/>
              </a:rPr>
              <a:t>Production features, not add-ons.</a:t>
            </a:r>
          </a:p>
          <a:p>
            <a:pPr algn="l"/>
            <a:r>
              <a:rPr sz="1200" b="1" i="0">
                <a:solidFill>
                  <a:srgbClr val="1A1714"/>
                </a:solidFill>
                <a:latin typeface="Georgia"/>
              </a:rPr>
              <a:t>Per-model cost tracking</a:t>
            </a:r>
          </a:p>
          <a:p>
            <a:pPr algn="l"/>
            <a:r>
              <a:rPr sz="900" b="0" i="0">
                <a:solidFill>
                  <a:srgbClr val="4A433B"/>
                </a:solidFill>
                <a:latin typeface="Georgia"/>
              </a:rPr>
              <a:t>CloudWatch sees every call &amp; token.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3500" y="2889250"/>
            <a:ext cx="5207000" cy="237058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000" b="1" i="0">
                <a:solidFill>
                  <a:srgbClr val="B8472A"/>
                </a:solidFill>
                <a:latin typeface="Georgia"/>
              </a:rPr>
              <a:t>−</a:t>
            </a:r>
          </a:p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LIMITATIONS — ALL HIT IN REAL CODE</a:t>
            </a:r>
          </a:p>
          <a:p>
            <a:pPr algn="l"/>
            <a:r>
              <a:rPr sz="1000" b="1" i="0">
                <a:solidFill>
                  <a:srgbClr val="1A1714"/>
                </a:solidFill>
                <a:latin typeface="Georgia"/>
              </a:rPr>
              <a:t>Inference profiles need a region anchor</a:t>
            </a:r>
          </a:p>
          <a:p>
            <a:pPr algn="l"/>
            <a:r>
              <a:rPr sz="800" b="0" i="0">
                <a:solidFill>
                  <a:srgbClr val="4A433B"/>
                </a:solidFill>
                <a:latin typeface="Georgia"/>
              </a:rPr>
              <a:t>us-east-1 — and the model must be activated per account/region.</a:t>
            </a:r>
          </a:p>
          <a:p>
            <a:pPr algn="l"/>
            <a:r>
              <a:rPr sz="1000" b="1" i="0">
                <a:solidFill>
                  <a:srgbClr val="1A1714"/>
                </a:solidFill>
                <a:latin typeface="Georgia"/>
              </a:rPr>
              <a:t>Not every model supports every feature</a:t>
            </a:r>
          </a:p>
          <a:p>
            <a:pPr algn="l"/>
            <a:r>
              <a:rPr sz="800" b="0" i="0">
                <a:solidFill>
                  <a:srgbClr val="4A433B"/>
                </a:solidFill>
                <a:latin typeface="Georgia"/>
              </a:rPr>
              <a:t>Llama / Mistral / Cohere reject cachePoint — we added BEDROCK_CACHE_SYSTEM=false.</a:t>
            </a:r>
          </a:p>
          <a:p>
            <a:pPr algn="l"/>
            <a:r>
              <a:rPr sz="1000" b="1" i="0">
                <a:solidFill>
                  <a:srgbClr val="1A1714"/>
                </a:solidFill>
                <a:latin typeface="Georgia"/>
              </a:rPr>
              <a:t>CountTokens wants the single-region ID</a:t>
            </a:r>
          </a:p>
          <a:p>
            <a:pPr algn="l"/>
            <a:r>
              <a:rPr sz="800" b="0" i="0">
                <a:solidFill>
                  <a:srgbClr val="4A433B"/>
                </a:solidFill>
                <a:latin typeface="Georgia"/>
              </a:rPr>
              <a:t>Not the us. profile ID — we strip the prefix.</a:t>
            </a:r>
          </a:p>
          <a:p>
            <a:pPr algn="l"/>
            <a:r>
              <a:rPr sz="1000" b="1" i="0">
                <a:solidFill>
                  <a:srgbClr val="1A1714"/>
                </a:solidFill>
                <a:latin typeface="Georgia"/>
              </a:rPr>
              <a:t>Forced tool-use + extended thinking can't combine</a:t>
            </a:r>
          </a:p>
          <a:p>
            <a:pPr algn="l"/>
            <a:r>
              <a:rPr sz="800" b="0" i="0">
                <a:solidFill>
                  <a:srgbClr val="4A433B"/>
                </a:solidFill>
                <a:latin typeface="Georgia"/>
              </a:rPr>
              <a:t>Relax to toolChoice: auto; parse the fallback.</a:t>
            </a:r>
          </a:p>
          <a:p>
            <a:pPr algn="l"/>
            <a:r>
              <a:rPr sz="1000" b="1" i="0">
                <a:solidFill>
                  <a:srgbClr val="1A1714"/>
                </a:solidFill>
                <a:latin typeface="Georgia"/>
              </a:rPr>
              <a:t>Quotas, throughput &amp; regional availability</a:t>
            </a:r>
          </a:p>
          <a:p>
            <a:pPr algn="l"/>
            <a:r>
              <a:rPr sz="800" b="0" i="0">
                <a:solidFill>
                  <a:srgbClr val="4A433B"/>
                </a:solidFill>
                <a:latin typeface="Georgia"/>
              </a:rPr>
              <a:t>Plan around model + region; not every pairing exists.</a:t>
            </a:r>
          </a:p>
          <a:p>
            <a:pPr algn="l"/>
            <a:r>
              <a:rPr sz="1000" b="1" i="0">
                <a:solidFill>
                  <a:srgbClr val="B8472A"/>
                </a:solidFill>
                <a:latin typeface="Georgia"/>
              </a:rPr>
              <a:t>AWS Learner Lab may not expose all models</a:t>
            </a:r>
          </a:p>
          <a:p>
            <a:pPr algn="l"/>
            <a:r>
              <a:rPr sz="800" b="0" i="0">
                <a:solidFill>
                  <a:srgbClr val="4A433B"/>
                </a:solidFill>
                <a:latin typeface="Georgia"/>
              </a:rPr>
              <a:t>Real demo risk — mitigated with a recorded fallback.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477000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0" i="0">
                <a:solidFill>
                  <a:srgbClr val="847B6E"/>
                </a:solidFill>
                <a:latin typeface="Helvetica Neue"/>
              </a:rPr>
              <a:t>AWS BEDROCK  ·  A FIELD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0" y="6477000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 i="0">
                <a:solidFill>
                  <a:srgbClr val="847B6E"/>
                </a:solidFill>
                <a:latin typeface="Helvetica Neue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95299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1" i="0">
                <a:solidFill>
                  <a:srgbClr val="1A1714"/>
                </a:solidFill>
                <a:latin typeface="Helvetica Neue"/>
              </a:rPr>
              <a:t>PART 2  ·  FIELD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0" y="495299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00" b="0" i="0">
                <a:solidFill>
                  <a:srgbClr val="847B6E"/>
                </a:solidFill>
                <a:latin typeface="Helvetica Neue"/>
              </a:rPr>
              <a:t>CHAPTER 12  ·  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79500"/>
            <a:ext cx="952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 i="0">
                <a:solidFill>
                  <a:srgbClr val="B8472A"/>
                </a:solidFill>
                <a:latin typeface="Helvetica Neue"/>
              </a:rPr>
              <a:t>CASE STUDY — BIGID PII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300" y="1301750"/>
            <a:ext cx="10795000" cy="1298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1A1714"/>
                </a:solidFill>
                <a:latin typeface="Georgia"/>
              </a:rPr>
              <a:t>An LLM judging an LLM,
writing the next prompt.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635250"/>
            <a:ext cx="4826000" cy="138353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THE PROBLEM</a:t>
            </a:r>
          </a:p>
          <a:p>
            <a:pPr algn="l"/>
            <a:r>
              <a:rPr sz="1300" b="0" i="0">
                <a:solidFill>
                  <a:srgbClr val="1A1714"/>
                </a:solidFill>
                <a:latin typeface="Georgia"/>
              </a:rPr>
              <a:t>Regex flags candidate PII — lots of false positives. We need an LLM to judge true vs false positive per PII type, guided by a “classifier brief.”</a:t>
            </a:r>
          </a:p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THE LOOP</a:t>
            </a:r>
          </a:p>
          <a:p>
            <a:pPr algn="l"/>
            <a:r>
              <a:rPr sz="1200" b="0" i="1">
                <a:solidFill>
                  <a:srgbClr val="1A1714"/>
                </a:solidFill>
                <a:latin typeface="Georgia"/>
              </a:rPr>
              <a:t>spec → generate dataset → label → judge errors → refine prompt → validate  (iterate)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2825750"/>
            <a:ext cx="1270000" cy="345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1" i="0">
                <a:solidFill>
                  <a:srgbClr val="B8472A"/>
                </a:solidFill>
                <a:latin typeface="Helvetica Neue"/>
              </a:rPr>
              <a:t>STEP 1</a:t>
            </a:r>
          </a:p>
          <a:p>
            <a:pPr algn="ctr"/>
            <a:r>
              <a:rPr sz="900" b="1" i="0">
                <a:solidFill>
                  <a:srgbClr val="1A1714"/>
                </a:solidFill>
                <a:latin typeface="Menlo"/>
              </a:rPr>
              <a:t>spec_agent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6000" y="2889250"/>
            <a:ext cx="381000" cy="36245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700" b="1" i="0">
                <a:solidFill>
                  <a:srgbClr val="B8472A"/>
                </a:solidFill>
                <a:latin typeface="Georgia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6999" y="2825750"/>
            <a:ext cx="1270000" cy="345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1" i="0">
                <a:solidFill>
                  <a:srgbClr val="B8472A"/>
                </a:solidFill>
                <a:latin typeface="Helvetica Neue"/>
              </a:rPr>
              <a:t>STEP 2</a:t>
            </a:r>
          </a:p>
          <a:p>
            <a:pPr algn="ctr"/>
            <a:r>
              <a:rPr sz="900" b="1" i="0">
                <a:solidFill>
                  <a:srgbClr val="1A1714"/>
                </a:solidFill>
                <a:latin typeface="Menlo"/>
              </a:rPr>
              <a:t>prompt_agent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2889250"/>
            <a:ext cx="381000" cy="36245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700" b="1" i="0">
                <a:solidFill>
                  <a:srgbClr val="B8472A"/>
                </a:solidFill>
                <a:latin typeface="Georgia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8000" y="2825750"/>
            <a:ext cx="1270000" cy="345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1" i="0">
                <a:solidFill>
                  <a:srgbClr val="B8472A"/>
                </a:solidFill>
                <a:latin typeface="Helvetica Neue"/>
              </a:rPr>
              <a:t>STEP 3</a:t>
            </a:r>
          </a:p>
          <a:p>
            <a:pPr algn="ctr"/>
            <a:r>
              <a:rPr sz="900" b="1" i="0">
                <a:solidFill>
                  <a:srgbClr val="1A1714"/>
                </a:solidFill>
                <a:latin typeface="Menlo"/>
              </a:rPr>
              <a:t>dataset_agent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0" y="3270250"/>
            <a:ext cx="444500" cy="43053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100" b="1" i="0">
                <a:solidFill>
                  <a:srgbClr val="B8472A"/>
                </a:solidFill>
                <a:latin typeface="Georgia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8000" y="3905249"/>
            <a:ext cx="1270000" cy="345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1" i="0">
                <a:solidFill>
                  <a:srgbClr val="E89A6A"/>
                </a:solidFill>
                <a:latin typeface="Helvetica Neue"/>
              </a:rPr>
              <a:t>VALIDATES</a:t>
            </a:r>
          </a:p>
          <a:p>
            <a:pPr algn="ctr"/>
            <a:r>
              <a:rPr sz="900" b="1" i="0">
                <a:solidFill>
                  <a:srgbClr val="F4EFE6"/>
                </a:solidFill>
                <a:latin typeface="Menlo"/>
              </a:rPr>
              <a:t>validator_agent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3968750"/>
            <a:ext cx="381000" cy="36245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700" b="1" i="0">
                <a:solidFill>
                  <a:srgbClr val="B8472A"/>
                </a:solidFill>
                <a:latin typeface="Georgia"/>
              </a:rPr>
              <a:t>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6999" y="3905249"/>
            <a:ext cx="1270000" cy="345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1" i="0">
                <a:solidFill>
                  <a:srgbClr val="B8472A"/>
                </a:solidFill>
                <a:latin typeface="Helvetica Neue"/>
              </a:rPr>
              <a:t>JUDGES ERRORS</a:t>
            </a:r>
          </a:p>
          <a:p>
            <a:pPr algn="ctr"/>
            <a:r>
              <a:rPr sz="900" b="1" i="0">
                <a:solidFill>
                  <a:srgbClr val="1A1714"/>
                </a:solidFill>
                <a:latin typeface="Menlo"/>
              </a:rPr>
              <a:t>judge_agent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0750" y="3810000"/>
            <a:ext cx="571500" cy="48158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700" b="1" i="0">
                <a:solidFill>
                  <a:srgbClr val="B8472A"/>
                </a:solidFill>
                <a:latin typeface="Georgia"/>
              </a:rPr>
              <a:t>←</a:t>
            </a:r>
          </a:p>
          <a:p>
            <a:pPr algn="r"/>
            <a:r>
              <a:rPr sz="700" b="1" i="0">
                <a:solidFill>
                  <a:srgbClr val="B8472A"/>
                </a:solidFill>
                <a:latin typeface="Helvetica Neue"/>
              </a:rPr>
              <a:t>REFINES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3250" y="3270250"/>
            <a:ext cx="381000" cy="43053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100" b="1" i="0">
                <a:solidFill>
                  <a:srgbClr val="B8472A"/>
                </a:solidFill>
                <a:latin typeface="Georgia"/>
              </a:rPr>
              <a:t>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4953000"/>
            <a:ext cx="4572000" cy="345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847B6E"/>
                </a:solidFill>
                <a:latin typeface="Helvetica Neue"/>
              </a:rPr>
              <a:t>HELPERS</a:t>
            </a:r>
          </a:p>
          <a:p>
            <a:pPr algn="l"/>
            <a:r>
              <a:rPr sz="900" b="0" i="0">
                <a:solidFill>
                  <a:srgbClr val="4A433B"/>
                </a:solidFill>
                <a:latin typeface="Menlo"/>
              </a:rPr>
              <a:t>error_analyzer  ·  prompt_modifier  ·  cluster_map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799" y="5892800"/>
            <a:ext cx="10287000" cy="890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1A1714"/>
                </a:solidFill>
                <a:latin typeface="Georgia"/>
              </a:rPr>
              <a:t>The point  · 
 Every box above is a Bedrock call. The system automatically writes the prompt that a downstream validator uses.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6477000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0" i="0">
                <a:solidFill>
                  <a:srgbClr val="847B6E"/>
                </a:solidFill>
                <a:latin typeface="Helvetica Neue"/>
              </a:rPr>
              <a:t>AWS BEDROCK  ·  A FIELD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0" y="6477000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 i="0">
                <a:solidFill>
                  <a:srgbClr val="847B6E"/>
                </a:solidFill>
                <a:latin typeface="Helvetica Neue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95299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1" i="0">
                <a:solidFill>
                  <a:srgbClr val="1A1714"/>
                </a:solidFill>
                <a:latin typeface="Helvetica Neue"/>
              </a:rPr>
              <a:t>PART 2  ·  FIELD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0" y="495299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00" b="0" i="0">
                <a:solidFill>
                  <a:srgbClr val="847B6E"/>
                </a:solidFill>
                <a:latin typeface="Helvetica Neue"/>
              </a:rPr>
              <a:t>CHAPTER 13  ·  THE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79500"/>
            <a:ext cx="952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 i="0">
                <a:solidFill>
                  <a:srgbClr val="B8472A"/>
                </a:solidFill>
                <a:latin typeface="Helvetica Neue"/>
              </a:rPr>
              <a:t>THE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300" y="1301750"/>
            <a:ext cx="10795000" cy="1298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1A1714"/>
                </a:solidFill>
                <a:latin typeface="Georgia"/>
              </a:rPr>
              <a:t>Right model, right job.
One string apart.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603500"/>
            <a:ext cx="8128000" cy="42545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847B6E"/>
                </a:solidFill>
                <a:latin typeface="Helvetica Neue"/>
              </a:rPr>
              <a:t>TASK</a:t>
            </a:r>
          </a:p>
          <a:p>
            <a:pPr algn="l"/>
            <a:r>
              <a:rPr sz="700" b="1" i="0">
                <a:solidFill>
                  <a:srgbClr val="847B6E"/>
                </a:solidFill>
                <a:latin typeface="Helvetica Neue"/>
              </a:rPr>
              <a:t>MODEL</a:t>
            </a:r>
          </a:p>
          <a:p>
            <a:pPr algn="r"/>
            <a:r>
              <a:rPr sz="700" b="1" i="0">
                <a:solidFill>
                  <a:srgbClr val="847B6E"/>
                </a:solidFill>
                <a:latin typeface="Helvetica Neue"/>
              </a:rPr>
              <a:t>$ / M IN</a:t>
            </a:r>
          </a:p>
          <a:p>
            <a:pPr algn="r"/>
            <a:r>
              <a:rPr sz="700" b="1" i="0">
                <a:solidFill>
                  <a:srgbClr val="847B6E"/>
                </a:solidFill>
                <a:latin typeface="Helvetica Neue"/>
              </a:rPr>
              <a:t>$ / M OUT</a:t>
            </a:r>
          </a:p>
          <a:p>
            <a:pPr algn="l"/>
            <a:r>
              <a:rPr sz="1100" b="0" i="0">
                <a:solidFill>
                  <a:srgbClr val="1A1714"/>
                </a:solidFill>
                <a:latin typeface="Georgia"/>
              </a:rPr>
              <a:t>High-volume labeling</a:t>
            </a:r>
          </a:p>
          <a:p>
            <a:pPr algn="l"/>
            <a:r>
              <a:rPr sz="1100" b="1" i="0">
                <a:solidFill>
                  <a:srgbClr val="1A1714"/>
                </a:solidFill>
                <a:latin typeface="Georgia"/>
              </a:rPr>
              <a:t>Claude Haiku 4.5</a:t>
            </a:r>
          </a:p>
          <a:p>
            <a:pPr algn="r"/>
            <a:r>
              <a:rPr sz="1100" b="0" i="0">
                <a:solidFill>
                  <a:srgbClr val="1A1714"/>
                </a:solidFill>
                <a:latin typeface="Menlo"/>
              </a:rPr>
              <a:t>0.25</a:t>
            </a:r>
          </a:p>
          <a:p>
            <a:pPr algn="r"/>
            <a:r>
              <a:rPr sz="1100" b="0" i="0">
                <a:solidFill>
                  <a:srgbClr val="1A1714"/>
                </a:solidFill>
                <a:latin typeface="Menlo"/>
              </a:rPr>
              <a:t>1.25</a:t>
            </a:r>
          </a:p>
          <a:p>
            <a:pPr algn="l"/>
            <a:r>
              <a:rPr sz="1100" b="0" i="0">
                <a:solidFill>
                  <a:srgbClr val="1A1714"/>
                </a:solidFill>
                <a:latin typeface="Georgia"/>
              </a:rPr>
              <a:t>Default validator</a:t>
            </a:r>
          </a:p>
          <a:p>
            <a:pPr algn="l"/>
            <a:r>
              <a:rPr sz="1100" b="1" i="0">
                <a:solidFill>
                  <a:srgbClr val="1A1714"/>
                </a:solidFill>
                <a:latin typeface="Georgia"/>
              </a:rPr>
              <a:t>Amazon Nova 2 Lite</a:t>
            </a:r>
          </a:p>
          <a:p>
            <a:pPr algn="r"/>
            <a:r>
              <a:rPr sz="1100" b="1" i="0">
                <a:solidFill>
                  <a:srgbClr val="B8472A"/>
                </a:solidFill>
                <a:latin typeface="Menlo"/>
              </a:rPr>
              <a:t>0.06</a:t>
            </a:r>
          </a:p>
          <a:p>
            <a:pPr algn="r"/>
            <a:r>
              <a:rPr sz="1100" b="0" i="0">
                <a:solidFill>
                  <a:srgbClr val="1A1714"/>
                </a:solidFill>
                <a:latin typeface="Menlo"/>
              </a:rPr>
              <a:t>0.24</a:t>
            </a:r>
          </a:p>
          <a:p>
            <a:pPr algn="l"/>
            <a:r>
              <a:rPr sz="1100" b="0" i="0">
                <a:solidFill>
                  <a:srgbClr val="1A1714"/>
                </a:solidFill>
                <a:latin typeface="Georgia"/>
              </a:rPr>
              <a:t>Dataset gen / cross-check</a:t>
            </a:r>
          </a:p>
          <a:p>
            <a:pPr algn="l"/>
            <a:r>
              <a:rPr sz="1100" b="1" i="0">
                <a:solidFill>
                  <a:srgbClr val="1A1714"/>
                </a:solidFill>
                <a:latin typeface="Georgia"/>
              </a:rPr>
              <a:t>Claude Sonnet 4.6</a:t>
            </a:r>
          </a:p>
          <a:p>
            <a:pPr algn="r"/>
            <a:r>
              <a:rPr sz="1100" b="0" i="0">
                <a:solidFill>
                  <a:srgbClr val="1A1714"/>
                </a:solidFill>
                <a:latin typeface="Menlo"/>
              </a:rPr>
              <a:t>3.00</a:t>
            </a:r>
          </a:p>
          <a:p>
            <a:pPr algn="r"/>
            <a:r>
              <a:rPr sz="1100" b="0" i="0">
                <a:solidFill>
                  <a:srgbClr val="1A1714"/>
                </a:solidFill>
                <a:latin typeface="Menlo"/>
              </a:rPr>
              <a:t>15.00</a:t>
            </a:r>
          </a:p>
          <a:p>
            <a:pPr algn="l"/>
            <a:r>
              <a:rPr sz="1100" b="0" i="0">
                <a:solidFill>
                  <a:srgbClr val="1A1714"/>
                </a:solidFill>
                <a:latin typeface="Georgia"/>
              </a:rPr>
              <a:t>Judge (hard reasoning)</a:t>
            </a:r>
          </a:p>
          <a:p>
            <a:pPr algn="l"/>
            <a:r>
              <a:rPr sz="1100" b="1" i="0">
                <a:solidFill>
                  <a:srgbClr val="1A1714"/>
                </a:solidFill>
                <a:latin typeface="Georgia"/>
              </a:rPr>
              <a:t>Claude Opus 4.6</a:t>
            </a:r>
          </a:p>
          <a:p>
            <a:pPr algn="r"/>
            <a:r>
              <a:rPr sz="1100" b="0" i="0">
                <a:solidFill>
                  <a:srgbClr val="1A1714"/>
                </a:solidFill>
                <a:latin typeface="Menlo"/>
              </a:rPr>
              <a:t>5.00</a:t>
            </a:r>
          </a:p>
          <a:p>
            <a:pPr algn="r"/>
            <a:r>
              <a:rPr sz="1100" b="0" i="0">
                <a:solidFill>
                  <a:srgbClr val="1A1714"/>
                </a:solidFill>
                <a:latin typeface="Menlo"/>
              </a:rPr>
              <a:t>25.00</a:t>
            </a:r>
          </a:p>
          <a:p>
            <a:pPr algn="l"/>
            <a:r>
              <a:rPr sz="1100" b="0" i="0">
                <a:solidFill>
                  <a:srgbClr val="1A1714"/>
                </a:solidFill>
                <a:latin typeface="Georgia"/>
              </a:rPr>
              <a:t>Ground-truth audit</a:t>
            </a:r>
          </a:p>
          <a:p>
            <a:pPr algn="l"/>
            <a:r>
              <a:rPr sz="1100" b="1" i="0">
                <a:solidFill>
                  <a:srgbClr val="1A1714"/>
                </a:solidFill>
                <a:latin typeface="Georgia"/>
              </a:rPr>
              <a:t>Claude Opus 4.8</a:t>
            </a:r>
          </a:p>
          <a:p>
            <a:pPr algn="r"/>
            <a:r>
              <a:rPr sz="1100" b="0" i="0">
                <a:solidFill>
                  <a:srgbClr val="1A1714"/>
                </a:solidFill>
                <a:latin typeface="Menlo"/>
              </a:rPr>
              <a:t>5.00</a:t>
            </a:r>
          </a:p>
          <a:p>
            <a:pPr algn="r"/>
            <a:r>
              <a:rPr sz="1100" b="0" i="0">
                <a:solidFill>
                  <a:srgbClr val="1A1714"/>
                </a:solidFill>
                <a:latin typeface="Menlo"/>
              </a:rPr>
              <a:t>25.00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500" y="2635250"/>
            <a:ext cx="2159000" cy="25577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INPUT COST COMPARED</a:t>
            </a:r>
          </a:p>
          <a:p>
            <a:pPr algn="l"/>
            <a:r>
              <a:rPr sz="4100" b="1" i="0">
                <a:solidFill>
                  <a:srgbClr val="1A1714"/>
                </a:solidFill>
                <a:latin typeface="Georgia"/>
              </a:rPr>
              <a:t>83×</a:t>
            </a:r>
          </a:p>
          <a:p>
            <a:pPr algn="l"/>
            <a:r>
              <a:rPr sz="1000" b="0" i="0">
                <a:solidFill>
                  <a:srgbClr val="4A433B"/>
                </a:solidFill>
                <a:latin typeface="Georgia"/>
              </a:rPr>
              <a:t>Nova 2 Lite cheaper than Opus on input tokens.</a:t>
            </a:r>
          </a:p>
          <a:p>
            <a:pPr algn="l"/>
            <a:r>
              <a:rPr sz="3100" b="1" i="0">
                <a:solidFill>
                  <a:srgbClr val="1A1714"/>
                </a:solidFill>
                <a:latin typeface="Georgia"/>
              </a:rPr>
              <a:t>20×</a:t>
            </a:r>
          </a:p>
          <a:p>
            <a:pPr algn="l"/>
            <a:r>
              <a:rPr sz="1000" b="0" i="0">
                <a:solidFill>
                  <a:srgbClr val="4A433B"/>
                </a:solidFill>
                <a:latin typeface="Georgia"/>
              </a:rPr>
              <a:t>Haiku cheaper than Opus on input tokens.</a:t>
            </a:r>
          </a:p>
          <a:p>
            <a:pPr algn="l"/>
            <a:r>
              <a:rPr sz="700" b="1" i="0">
                <a:solidFill>
                  <a:srgbClr val="B8472A"/>
                </a:solidFill>
                <a:latin typeface="Helvetica Neue"/>
              </a:rPr>
              <a:t>PLUS CACHING</a:t>
            </a:r>
          </a:p>
          <a:p>
            <a:pPr algn="l"/>
            <a:r>
              <a:rPr sz="1000" b="0" i="0">
                <a:solidFill>
                  <a:srgbClr val="1A1714"/>
                </a:solidFill>
                <a:latin typeface="Georgia"/>
              </a:rPr>
              <a:t>Reused system prompt bills at 10% on cache reads.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9799" y="5892800"/>
            <a:ext cx="10287000" cy="9651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1A1714"/>
                </a:solidFill>
                <a:latin typeface="Georgia"/>
              </a:rPr>
              <a:t>The story  · 
 Don't pay Opus to label 10,000 cheap findings. Reserve Opus for the hard judge step. Converse makes that a config change, not a project.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477000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0" i="0">
                <a:solidFill>
                  <a:srgbClr val="847B6E"/>
                </a:solidFill>
                <a:latin typeface="Helvetica Neue"/>
              </a:rPr>
              <a:t>AWS BEDROCK  ·  A FIELD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0" y="6477000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 i="0">
                <a:solidFill>
                  <a:srgbClr val="847B6E"/>
                </a:solidFill>
                <a:latin typeface="Helvetica Neue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95299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1" i="0">
                <a:solidFill>
                  <a:srgbClr val="F4EFE6"/>
                </a:solidFill>
                <a:latin typeface="Helvetica Neue"/>
              </a:rPr>
              <a:t>PART 2  · 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0" y="495299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00" b="0" i="0">
                <a:solidFill>
                  <a:srgbClr val="847B6E"/>
                </a:solidFill>
                <a:latin typeface="Helvetica Neue"/>
              </a:rPr>
              <a:t>CHAPTER 14  · 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9799" y="1231900"/>
            <a:ext cx="3810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 i="0">
                <a:solidFill>
                  <a:srgbClr val="FF3B30"/>
                </a:solidFill>
                <a:latin typeface="Helvetica Neue"/>
              </a:rPr>
              <a:t>LIVE DEMO  ·  ~4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300" y="1524000"/>
            <a:ext cx="10795000" cy="31363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0" b="1" i="0">
                <a:solidFill>
                  <a:srgbClr val="F4EFE6"/>
                </a:solidFill>
                <a:latin typeface="Georgia"/>
              </a:rPr>
              <a:t>Real input.
Real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873499"/>
            <a:ext cx="9525000" cy="39649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900" b="0" i="1">
                <a:solidFill>
                  <a:srgbClr val="F4EFE6"/>
                </a:solidFill>
                <a:latin typeface="Georgia"/>
              </a:rPr>
              <a:t>Running validate_finding_async — the innermost Bedrock call.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635500"/>
            <a:ext cx="10668000" cy="22225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E89A6A"/>
                </a:solidFill>
                <a:latin typeface="Helvetica Neue"/>
              </a:rPr>
              <a:t>INPUT</a:t>
            </a:r>
          </a:p>
          <a:p>
            <a:pPr algn="l"/>
            <a:r>
              <a:rPr sz="1300" b="0" i="0">
                <a:solidFill>
                  <a:srgbClr val="F4EFE6"/>
                </a:solidFill>
                <a:latin typeface="Georgia"/>
              </a:rPr>
              <a:t>One PII finding
+ classifier brief</a:t>
            </a:r>
          </a:p>
          <a:p>
            <a:pPr algn="ctr"/>
            <a:r>
              <a:rPr sz="2300" b="1" i="0">
                <a:solidFill>
                  <a:srgbClr val="B8472A"/>
                </a:solidFill>
                <a:latin typeface="Georgia"/>
              </a:rPr>
              <a:t>→</a:t>
            </a:r>
          </a:p>
          <a:p>
            <a:pPr algn="l"/>
            <a:r>
              <a:rPr sz="700" b="1" i="0">
                <a:solidFill>
                  <a:srgbClr val="E89A6A"/>
                </a:solidFill>
                <a:latin typeface="Helvetica Neue"/>
              </a:rPr>
              <a:t>THROUGH</a:t>
            </a:r>
          </a:p>
          <a:p>
            <a:pPr algn="l"/>
            <a:r>
              <a:rPr sz="1300" b="0" i="0">
                <a:solidFill>
                  <a:srgbClr val="F4EFE6"/>
                </a:solidFill>
                <a:latin typeface="Georgia"/>
              </a:rPr>
              <a:t>Bedrock Converse
+ forced tool-use</a:t>
            </a:r>
          </a:p>
          <a:p>
            <a:pPr algn="ctr"/>
            <a:r>
              <a:rPr sz="2300" b="1" i="0">
                <a:solidFill>
                  <a:srgbClr val="B8472A"/>
                </a:solidFill>
                <a:latin typeface="Georgia"/>
              </a:rPr>
              <a:t>→</a:t>
            </a:r>
          </a:p>
          <a:p>
            <a:pPr algn="l"/>
            <a:r>
              <a:rPr sz="700" b="1" i="0">
                <a:solidFill>
                  <a:srgbClr val="E89A6A"/>
                </a:solidFill>
                <a:latin typeface="Helvetica Neue"/>
              </a:rPr>
              <a:t>OUTPUT</a:t>
            </a:r>
          </a:p>
          <a:p>
            <a:pPr algn="l"/>
            <a:r>
              <a:rPr sz="1000" b="0" i="0">
                <a:solidFill>
                  <a:srgbClr val="F4EFE6"/>
                </a:solidFill>
                <a:latin typeface="Menlo"/>
              </a:rPr>
              <a:t>{ "score": 1|2|3,
  "reasoning": "..."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9799" y="5892800"/>
            <a:ext cx="10287000" cy="821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F4EFE6"/>
                </a:solidFill>
                <a:latin typeface="Georgia"/>
              </a:rPr>
              <a:t>Watch for  · 
 the JSON shape, the token / cost line in the log — the same hooks we discussed on slides 9 &amp; 13.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477000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0" i="0">
                <a:solidFill>
                  <a:srgbClr val="847B6E"/>
                </a:solidFill>
                <a:latin typeface="Helvetica Neue"/>
              </a:rPr>
              <a:t>AWS BEDROCK  ·  A FIELD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0" y="6477000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 i="0">
                <a:solidFill>
                  <a:srgbClr val="847B6E"/>
                </a:solidFill>
                <a:latin typeface="Helvetica Neue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95299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1" i="0">
                <a:solidFill>
                  <a:srgbClr val="1A1714"/>
                </a:solidFill>
                <a:latin typeface="Helvetica Neue"/>
              </a:rPr>
              <a:t>PART 2  · 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0" y="495299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00" b="0" i="0">
                <a:solidFill>
                  <a:srgbClr val="847B6E"/>
                </a:solidFill>
                <a:latin typeface="Helvetica Neue"/>
              </a:rPr>
              <a:t>CHAPTER 15  ·  EARNED WISDOM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79500"/>
            <a:ext cx="952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 i="0">
                <a:solidFill>
                  <a:srgbClr val="B8472A"/>
                </a:solidFill>
                <a:latin typeface="Helvetica Neue"/>
              </a:rPr>
              <a:t>EARNED WISDOM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300" y="1301750"/>
            <a:ext cx="10795000" cy="1298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1A1714"/>
                </a:solidFill>
                <a:latin typeface="Georgia"/>
              </a:rPr>
              <a:t>Five things we wish
we'd known on day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730500"/>
            <a:ext cx="10668000" cy="41275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000" b="1" i="0">
                <a:solidFill>
                  <a:srgbClr val="B8472A"/>
                </a:solidFill>
                <a:latin typeface="Georgia"/>
              </a:rPr>
              <a:t>01</a:t>
            </a:r>
          </a:p>
          <a:p>
            <a:pPr algn="l"/>
            <a:r>
              <a:rPr sz="1500" b="1" i="0">
                <a:solidFill>
                  <a:srgbClr val="1A1714"/>
                </a:solidFill>
                <a:latin typeface="Georgia"/>
              </a:rPr>
              <a:t>One API, not N wrappers.</a:t>
            </a:r>
          </a:p>
          <a:p>
            <a:pPr algn="l"/>
            <a:r>
              <a:rPr sz="1000" b="0" i="0">
                <a:solidFill>
                  <a:srgbClr val="4A433B"/>
                </a:solidFill>
                <a:latin typeface="Georgia"/>
              </a:rPr>
              <a:t>Converse meant zero per-provider request code for our Bedrock models. Our OpenAI &amp; OpenRouter paths each needed their own wrapper — which is exactly the proof.</a:t>
            </a:r>
          </a:p>
          <a:p>
            <a:pPr algn="l"/>
            <a:r>
              <a:rPr sz="4000" b="1" i="0">
                <a:solidFill>
                  <a:srgbClr val="B8472A"/>
                </a:solidFill>
                <a:latin typeface="Georgia"/>
              </a:rPr>
              <a:t>02</a:t>
            </a:r>
          </a:p>
          <a:p>
            <a:pPr algn="l"/>
            <a:r>
              <a:rPr sz="1500" b="1" i="0">
                <a:solidFill>
                  <a:srgbClr val="1A1714"/>
                </a:solidFill>
                <a:latin typeface="Georgia"/>
              </a:rPr>
              <a:t>Tool-use &gt; prose parsing.</a:t>
            </a:r>
          </a:p>
          <a:p>
            <a:pPr algn="l"/>
            <a:r>
              <a:rPr sz="1000" b="0" i="0">
                <a:solidFill>
                  <a:srgbClr val="4A433B"/>
                </a:solidFill>
                <a:latin typeface="Georgia"/>
              </a:rPr>
              <a:t>Force the model into your schema. Reliable JSON by construction beats clever regex every time.</a:t>
            </a:r>
          </a:p>
          <a:p>
            <a:pPr algn="l"/>
            <a:r>
              <a:rPr sz="4000" b="1" i="0">
                <a:solidFill>
                  <a:srgbClr val="B8472A"/>
                </a:solidFill>
                <a:latin typeface="Georgia"/>
              </a:rPr>
              <a:t>03</a:t>
            </a:r>
          </a:p>
          <a:p>
            <a:pPr algn="l"/>
            <a:r>
              <a:rPr sz="1500" b="1" i="0">
                <a:solidFill>
                  <a:srgbClr val="1A1714"/>
                </a:solidFill>
                <a:latin typeface="Georgia"/>
              </a:rPr>
              <a:t>Cache the system prompt.</a:t>
            </a:r>
          </a:p>
          <a:p>
            <a:pPr algn="l"/>
            <a:r>
              <a:rPr sz="1000" b="0" i="0">
                <a:solidFill>
                  <a:srgbClr val="4A433B"/>
                </a:solidFill>
                <a:latin typeface="Georgia"/>
              </a:rPr>
              <a:t>Real money when it's reused — cache reads bill at 10% of the input rate. The biggest single-line cost win in the project.</a:t>
            </a:r>
          </a:p>
          <a:p>
            <a:pPr algn="l"/>
            <a:r>
              <a:rPr sz="4000" b="1" i="0">
                <a:solidFill>
                  <a:srgbClr val="B8472A"/>
                </a:solidFill>
                <a:latin typeface="Georgia"/>
              </a:rPr>
              <a:t>04</a:t>
            </a:r>
          </a:p>
          <a:p>
            <a:pPr algn="l"/>
            <a:r>
              <a:rPr sz="1500" b="1" i="0">
                <a:solidFill>
                  <a:srgbClr val="1A1714"/>
                </a:solidFill>
                <a:latin typeface="Georgia"/>
              </a:rPr>
              <a:t>Build a provider seam.</a:t>
            </a:r>
          </a:p>
          <a:p>
            <a:pPr algn="l"/>
            <a:r>
              <a:rPr sz="1000" b="0" i="0">
                <a:solidFill>
                  <a:srgbClr val="4A433B"/>
                </a:solidFill>
                <a:latin typeface="Georgia"/>
              </a:rPr>
              <a:t>Our core/llm.py abstraction means adding a provider is a one-elif change. Don't bind your app to one SDK.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5549900"/>
            <a:ext cx="10287000" cy="1162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3200" b="1" i="0">
                <a:solidFill>
                  <a:srgbClr val="E89A6A"/>
                </a:solidFill>
                <a:latin typeface="Georgia"/>
              </a:rPr>
              <a:t>05</a:t>
            </a:r>
          </a:p>
          <a:p>
            <a:pPr algn="l"/>
            <a:r>
              <a:rPr sz="1200" b="1" i="0">
                <a:solidFill>
                  <a:srgbClr val="F4EFE6"/>
                </a:solidFill>
                <a:latin typeface="Georgia"/>
              </a:rPr>
              <a:t>Mind the gotchas.</a:t>
            </a:r>
          </a:p>
          <a:p>
            <a:pPr algn="l"/>
            <a:r>
              <a:rPr sz="1000" b="0" i="0">
                <a:solidFill>
                  <a:srgbClr val="F4EFE6"/>
                </a:solidFill>
                <a:latin typeface="Georgia"/>
              </a:rPr>
              <a:t>Region-anchored inference profiles · CountTokens needs the single-region ID · not every model supports caching. Each one cost us a debugging hour the first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477000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0" i="0">
                <a:solidFill>
                  <a:srgbClr val="847B6E"/>
                </a:solidFill>
                <a:latin typeface="Helvetica Neue"/>
              </a:rPr>
              <a:t>AWS BEDROCK  ·  A FIELD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0" y="6477000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 i="0">
                <a:solidFill>
                  <a:srgbClr val="847B6E"/>
                </a:solidFill>
                <a:latin typeface="Helvetica Neue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95299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1" i="0">
                <a:solidFill>
                  <a:srgbClr val="1A1714"/>
                </a:solidFill>
                <a:latin typeface="Helvetica Neue"/>
              </a:rPr>
              <a:t>CLOSING  ·  THREE TAKEAWAYS &amp;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0" y="495299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800" b="0" i="0">
                <a:solidFill>
                  <a:srgbClr val="847B6E"/>
                </a:solidFill>
                <a:latin typeface="Helvetica Neue"/>
              </a:rPr>
              <a:t>COLOPHON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79500"/>
            <a:ext cx="952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 i="0">
                <a:solidFill>
                  <a:srgbClr val="B8472A"/>
                </a:solidFill>
                <a:latin typeface="Helvetica Neue"/>
              </a:rPr>
              <a:t>IN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300" y="1301750"/>
            <a:ext cx="10795000" cy="117932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500" b="1" i="0">
                <a:solidFill>
                  <a:srgbClr val="1A1714"/>
                </a:solidFill>
                <a:latin typeface="Georgia"/>
              </a:rPr>
              <a:t>Three takeaways.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730500"/>
            <a:ext cx="10668000" cy="380009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000" b="1" i="0">
                <a:solidFill>
                  <a:srgbClr val="B8472A"/>
                </a:solidFill>
                <a:latin typeface="Georgia"/>
              </a:rPr>
              <a:t>I.</a:t>
            </a:r>
          </a:p>
          <a:p>
            <a:pPr algn="l"/>
            <a:r>
              <a:rPr sz="2100" b="1" i="0">
                <a:solidFill>
                  <a:srgbClr val="1A1714"/>
                </a:solidFill>
                <a:latin typeface="Georgia"/>
              </a:rPr>
              <a:t>Bedrock = managed, multi-model GenAI on AWS.</a:t>
            </a:r>
          </a:p>
          <a:p>
            <a:pPr algn="l"/>
            <a:r>
              <a:rPr sz="1200" b="0" i="1">
                <a:solidFill>
                  <a:srgbClr val="4A433B"/>
                </a:solidFill>
                <a:latin typeface="Georgia"/>
              </a:rPr>
              <a:t>Serverless, IAM-authenticated, scales to zero.</a:t>
            </a:r>
          </a:p>
          <a:p>
            <a:pPr algn="l"/>
            <a:r>
              <a:rPr sz="4000" b="1" i="0">
                <a:solidFill>
                  <a:srgbClr val="B8472A"/>
                </a:solidFill>
                <a:latin typeface="Georgia"/>
              </a:rPr>
              <a:t>II.</a:t>
            </a:r>
          </a:p>
          <a:p>
            <a:pPr algn="l"/>
            <a:r>
              <a:rPr sz="2100" b="1" i="0">
                <a:solidFill>
                  <a:srgbClr val="1A1714"/>
                </a:solidFill>
                <a:latin typeface="Georgia"/>
              </a:rPr>
              <a:t>Converse = one request shape, every model.</a:t>
            </a:r>
          </a:p>
          <a:p>
            <a:pPr algn="l"/>
            <a:r>
              <a:rPr sz="1200" b="0" i="1">
                <a:solidFill>
                  <a:srgbClr val="4A433B"/>
                </a:solidFill>
                <a:latin typeface="Georgia"/>
              </a:rPr>
              <a:t>Swap models with a one-string change.</a:t>
            </a:r>
          </a:p>
          <a:p>
            <a:pPr algn="l"/>
            <a:r>
              <a:rPr sz="4000" b="1" i="0">
                <a:solidFill>
                  <a:srgbClr val="B8472A"/>
                </a:solidFill>
                <a:latin typeface="Georgia"/>
              </a:rPr>
              <a:t>III.</a:t>
            </a:r>
          </a:p>
          <a:p>
            <a:pPr algn="l"/>
            <a:r>
              <a:rPr sz="2100" b="1" i="0">
                <a:solidFill>
                  <a:srgbClr val="1A1714"/>
                </a:solidFill>
                <a:latin typeface="Georgia"/>
              </a:rPr>
              <a:t>Right-model-for-the-job economics.</a:t>
            </a:r>
          </a:p>
          <a:p>
            <a:pPr algn="l"/>
            <a:r>
              <a:rPr sz="1200" b="0" i="1">
                <a:solidFill>
                  <a:srgbClr val="4A433B"/>
                </a:solidFill>
                <a:latin typeface="Georgia"/>
              </a:rPr>
              <a:t>Nova / Haiku for volume; Opus for the hard calls.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5676900"/>
            <a:ext cx="10287000" cy="9580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1" i="0">
                <a:solidFill>
                  <a:srgbClr val="E89A6A"/>
                </a:solidFill>
                <a:latin typeface="Helvetica Neue"/>
              </a:rPr>
              <a:t>NOW</a:t>
            </a:r>
          </a:p>
          <a:p>
            <a:pPr algn="l"/>
            <a:r>
              <a:rPr sz="2700" b="1" i="0">
                <a:solidFill>
                  <a:srgbClr val="F4EFE6"/>
                </a:solidFill>
                <a:latin typeface="Georgia"/>
              </a:rPr>
              <a:t>Questions?</a:t>
            </a:r>
          </a:p>
          <a:p>
            <a:pPr algn="l"/>
            <a:r>
              <a:rPr sz="700" b="1" i="0">
                <a:solidFill>
                  <a:srgbClr val="E89A6A"/>
                </a:solidFill>
                <a:latin typeface="Helvetica Neue"/>
              </a:rPr>
              <a:t>BOTH PRESENTERS</a:t>
            </a:r>
          </a:p>
          <a:p>
            <a:pPr algn="l"/>
            <a:r>
              <a:rPr sz="1100" b="0" i="1">
                <a:solidFill>
                  <a:srgbClr val="F4EFE6"/>
                </a:solidFill>
                <a:latin typeface="Georgia"/>
              </a:rPr>
              <a:t>Thank you — see the repo for the full code 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477000"/>
            <a:ext cx="5715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00" b="0" i="0">
                <a:solidFill>
                  <a:srgbClr val="847B6E"/>
                </a:solidFill>
                <a:latin typeface="Helvetica Neue"/>
              </a:rPr>
              <a:t>AWS BEDROCK  ·  A FIELD REPORT  · 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0" y="6477000"/>
            <a:ext cx="266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00" b="0" i="0">
                <a:solidFill>
                  <a:srgbClr val="847B6E"/>
                </a:solidFill>
                <a:latin typeface="Helvetica Neue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